
<file path=[Content_Types].xml><?xml version="1.0" encoding="utf-8"?>
<Types xmlns="http://schemas.openxmlformats.org/package/2006/content-types">
  <Default Extension="glb" ContentType="model/gltf.binary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2" r:id="rId11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m-vindo" id="{3374D542-6E3E-455F-9BFB-B45891911720}">
          <p14:sldIdLst>
            <p14:sldId id="256"/>
            <p14:sldId id="257"/>
          </p14:sldIdLst>
        </p14:section>
        <p14:section name="Procurar Modelos 3D" id="{6844172C-9703-4DC7-908A-C23538616A3C}">
          <p14:sldIdLst>
            <p14:sldId id="258"/>
            <p14:sldId id="259"/>
          </p14:sldIdLst>
        </p14:section>
        <p14:section name="Inserir um Modelo 3D a Partir de um Ficheiro" id="{66737F24-1C36-4DF4-A00F-927A3F1468AC}">
          <p14:sldIdLst>
            <p14:sldId id="260"/>
          </p14:sldIdLst>
        </p14:section>
        <p14:section name="Posicionar e Rodar o Seu Modelo 3D" id="{A08F0015-E7F5-4E26-BBAF-AEE4F9A16AD2}">
          <p14:sldIdLst>
            <p14:sldId id="261"/>
            <p14:sldId id="262"/>
          </p14:sldIdLst>
        </p14:section>
        <p14:section name="Animar o Seu Modelo 3D" id="{B62868DA-F525-4AC5-9E3E-39ECA0154BBD}">
          <p14:sldIdLst>
            <p14:sldId id="263"/>
            <p14:sldId id="264"/>
          </p14:sldIdLst>
        </p14:section>
        <p14:section name="Saiba Mais" id="{62756D7E-964E-493A-83A1-13BC0B6B5E47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958846-9E2F-4BCA-BBE8-744F37D3FAC7}" v="40" dt="2025-08-03T11:10:43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3" autoAdjust="0"/>
    <p:restoredTop sz="94598" autoAdjust="0"/>
  </p:normalViewPr>
  <p:slideViewPr>
    <p:cSldViewPr snapToGrid="0">
      <p:cViewPr varScale="1">
        <p:scale>
          <a:sx n="75" d="100"/>
          <a:sy n="75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09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élia Cerejo Lopes" userId="83473ccbf83ac97c" providerId="LiveId" clId="{02958846-9E2F-4BCA-BBE8-744F37D3FAC7}"/>
    <pc:docChg chg="modSld">
      <pc:chgData name="Amélia Cerejo Lopes" userId="83473ccbf83ac97c" providerId="LiveId" clId="{02958846-9E2F-4BCA-BBE8-744F37D3FAC7}" dt="2025-08-03T11:10:43.408" v="39"/>
      <pc:docMkLst>
        <pc:docMk/>
      </pc:docMkLst>
      <pc:sldChg chg="modTransition">
        <pc:chgData name="Amélia Cerejo Lopes" userId="83473ccbf83ac97c" providerId="LiveId" clId="{02958846-9E2F-4BCA-BBE8-744F37D3FAC7}" dt="2025-08-03T11:10:15.785" v="31"/>
        <pc:sldMkLst>
          <pc:docMk/>
          <pc:sldMk cId="2997580326" sldId="256"/>
        </pc:sldMkLst>
      </pc:sldChg>
      <pc:sldChg chg="modTransition">
        <pc:chgData name="Amélia Cerejo Lopes" userId="83473ccbf83ac97c" providerId="LiveId" clId="{02958846-9E2F-4BCA-BBE8-744F37D3FAC7}" dt="2025-08-03T11:10:22.358" v="32"/>
        <pc:sldMkLst>
          <pc:docMk/>
          <pc:sldMk cId="3855108150" sldId="257"/>
        </pc:sldMkLst>
      </pc:sldChg>
      <pc:sldChg chg="modTransition">
        <pc:chgData name="Amélia Cerejo Lopes" userId="83473ccbf83ac97c" providerId="LiveId" clId="{02958846-9E2F-4BCA-BBE8-744F37D3FAC7}" dt="2025-08-03T11:10:24.973" v="33"/>
        <pc:sldMkLst>
          <pc:docMk/>
          <pc:sldMk cId="225163801" sldId="258"/>
        </pc:sldMkLst>
      </pc:sldChg>
      <pc:sldChg chg="modTransition">
        <pc:chgData name="Amélia Cerejo Lopes" userId="83473ccbf83ac97c" providerId="LiveId" clId="{02958846-9E2F-4BCA-BBE8-744F37D3FAC7}" dt="2025-08-03T11:10:27.794" v="34"/>
        <pc:sldMkLst>
          <pc:docMk/>
          <pc:sldMk cId="1997439054" sldId="259"/>
        </pc:sldMkLst>
      </pc:sldChg>
      <pc:sldChg chg="modTransition">
        <pc:chgData name="Amélia Cerejo Lopes" userId="83473ccbf83ac97c" providerId="LiveId" clId="{02958846-9E2F-4BCA-BBE8-744F37D3FAC7}" dt="2025-08-03T11:10:30.458" v="35"/>
        <pc:sldMkLst>
          <pc:docMk/>
          <pc:sldMk cId="3665633859" sldId="260"/>
        </pc:sldMkLst>
      </pc:sldChg>
      <pc:sldChg chg="modTransition">
        <pc:chgData name="Amélia Cerejo Lopes" userId="83473ccbf83ac97c" providerId="LiveId" clId="{02958846-9E2F-4BCA-BBE8-744F37D3FAC7}" dt="2025-08-03T11:10:34.236" v="36"/>
        <pc:sldMkLst>
          <pc:docMk/>
          <pc:sldMk cId="1969584234" sldId="261"/>
        </pc:sldMkLst>
      </pc:sldChg>
      <pc:sldChg chg="modTransition">
        <pc:chgData name="Amélia Cerejo Lopes" userId="83473ccbf83ac97c" providerId="LiveId" clId="{02958846-9E2F-4BCA-BBE8-744F37D3FAC7}" dt="2025-08-03T11:10:36.741" v="37"/>
        <pc:sldMkLst>
          <pc:docMk/>
          <pc:sldMk cId="1764756509" sldId="262"/>
        </pc:sldMkLst>
      </pc:sldChg>
      <pc:sldChg chg="modTransition">
        <pc:chgData name="Amélia Cerejo Lopes" userId="83473ccbf83ac97c" providerId="LiveId" clId="{02958846-9E2F-4BCA-BBE8-744F37D3FAC7}" dt="2025-08-03T11:10:40.894" v="38"/>
        <pc:sldMkLst>
          <pc:docMk/>
          <pc:sldMk cId="1249102131" sldId="263"/>
        </pc:sldMkLst>
      </pc:sldChg>
      <pc:sldChg chg="modTransition">
        <pc:chgData name="Amélia Cerejo Lopes" userId="83473ccbf83ac97c" providerId="LiveId" clId="{02958846-9E2F-4BCA-BBE8-744F37D3FAC7}" dt="2025-08-03T11:10:43.408" v="39"/>
        <pc:sldMkLst>
          <pc:docMk/>
          <pc:sldMk cId="1424314166" sldId="264"/>
        </pc:sldMkLst>
      </pc:sldChg>
      <pc:sldChg chg="modTransition">
        <pc:chgData name="Amélia Cerejo Lopes" userId="83473ccbf83ac97c" providerId="LiveId" clId="{02958846-9E2F-4BCA-BBE8-744F37D3FAC7}" dt="2025-08-03T11:09:54.138" v="29"/>
        <pc:sldMkLst>
          <pc:docMk/>
          <pc:sldMk cId="893025881" sldId="2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AEA5E5BF-B348-450B-8256-EBFB08D168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5C68553-45F2-4889-B5F1-7BFDC1D7A6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45F48E-F0A7-4556-9AFD-9FF30DE18BE8}" type="datetime1">
              <a:rPr lang="pt-PT" smtClean="0"/>
              <a:t>03/08/2025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19835998-9963-4F25-88BB-91A7F916AF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C55B8FF-86E5-46D7-B5DC-A3F8A699CF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812F3-E2D1-439A-B295-407F3008D1F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5226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 noProof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FEB60E2-D745-4313-8DD3-B83D164F3336}" type="datetime1">
              <a:rPr lang="pt-PT" noProof="0" smtClean="0"/>
              <a:t>03/08/2025</a:t>
            </a:fld>
            <a:endParaRPr lang="pt-PT" noProof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PT" noProof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 noProof="0"/>
              <a:t>Editar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 noProof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A01C38D-F26D-4167-83EF-8774BC62D548}" type="slidenum">
              <a:rPr lang="pt-PT" noProof="0" smtClean="0"/>
              <a:t>‹nº›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01C38D-F26D-4167-83EF-8774BC62D548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171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01C38D-F26D-4167-83EF-8774BC62D548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29919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01C38D-F26D-4167-83EF-8774BC62D548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54420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01C38D-F26D-4167-83EF-8774BC62D548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8782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01C38D-F26D-4167-83EF-8774BC62D548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7140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01C38D-F26D-4167-83EF-8774BC62D548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7783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01C38D-F26D-4167-83EF-8774BC62D548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1933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01C38D-F26D-4167-83EF-8774BC62D548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86510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A01C38D-F26D-4167-83EF-8774BC62D548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89201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8754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sz="1800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 rtl="0">
              <a:lnSpc>
                <a:spcPct val="150000"/>
              </a:lnSpc>
              <a:spcAft>
                <a:spcPts val="1200"/>
              </a:spcAft>
            </a:pPr>
            <a:r>
              <a:rPr lang="pt-PT" noProof="0"/>
              <a:t>Clique para editar o estilo do subtítulo do Modelo Global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4433" y="1604211"/>
            <a:ext cx="10983131" cy="4572752"/>
          </a:xfrm>
        </p:spPr>
        <p:txBody>
          <a:bodyPr rtlCol="0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 rtl="0"/>
            <a:r>
              <a:rPr lang="pt-PT" noProof="0"/>
              <a:t>Clique para editar os Estilos de título do modelo global</a:t>
            </a:r>
          </a:p>
          <a:p>
            <a:pPr lvl="1" rtl="0"/>
            <a:r>
              <a:rPr lang="pt-PT" noProof="0"/>
              <a:t>Segundo nível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4433" y="1604211"/>
            <a:ext cx="10983131" cy="4572752"/>
          </a:xfrm>
        </p:spPr>
        <p:txBody>
          <a:bodyPr rtlCol="0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 rtl="0"/>
            <a:r>
              <a:rPr lang="pt-PT" noProof="0"/>
              <a:t>Clique para editar os Estilos de título do modelo global</a:t>
            </a:r>
          </a:p>
          <a:p>
            <a:pPr lvl="1" rtl="0"/>
            <a:r>
              <a:rPr lang="pt-PT" noProof="0"/>
              <a:t>Segundo nível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Marcador de Posição de Conteúdo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0862" y="1507068"/>
            <a:ext cx="3192379" cy="4669896"/>
          </a:xfrm>
        </p:spPr>
        <p:txBody>
          <a:bodyPr rtlCol="0"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 rtl="0"/>
            <a:r>
              <a:rPr lang="pt-PT" noProof="0"/>
              <a:t>Clique para editar os Estilos de título do modelo global</a:t>
            </a:r>
          </a:p>
          <a:p>
            <a:pPr lvl="1" rtl="0"/>
            <a:r>
              <a:rPr lang="pt-PT" noProof="0"/>
              <a:t>Segundo nível</a:t>
            </a:r>
          </a:p>
        </p:txBody>
      </p:sp>
      <p:sp>
        <p:nvSpPr>
          <p:cNvPr id="9" name="Marcador de Posição de Conteúdo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95537" y="1507068"/>
            <a:ext cx="7143905" cy="4669896"/>
          </a:xfrm>
        </p:spPr>
        <p:txBody>
          <a:bodyPr rtlCol="0"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 rtl="0"/>
            <a:r>
              <a:rPr lang="pt-PT" noProof="0"/>
              <a:t>Clique para editar os Estilos de título do modelo global</a:t>
            </a:r>
          </a:p>
          <a:p>
            <a:pPr lvl="1" rtl="0"/>
            <a:r>
              <a:rPr lang="pt-PT" noProof="0"/>
              <a:t>Segundo nível</a:t>
            </a: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sz="1800" noProof="0"/>
          </a:p>
        </p:txBody>
      </p:sp>
      <p:sp>
        <p:nvSpPr>
          <p:cNvPr id="10" name="Retângulo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sz="1800" noProof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7" name="Marcador de Posição de Conteúdo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Clique para editar os Estilos de título do modelo global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Segundo nível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Terceiro nível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Quarto nível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t-PT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pt-PT" sz="1800" noProof="0"/>
          </a:p>
        </p:txBody>
      </p:sp>
      <p:cxnSp>
        <p:nvCxnSpPr>
          <p:cNvPr id="12" name="Conexão Reta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pt-PT" sz="1800" noProof="0"/>
          </a:p>
        </p:txBody>
      </p:sp>
      <p:cxnSp>
        <p:nvCxnSpPr>
          <p:cNvPr id="12" name="Conexão Reta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pt-PT" sz="1800" noProof="0"/>
          </a:p>
        </p:txBody>
      </p:sp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PT" noProof="0"/>
              <a:t>Clique para editar os Estilos de título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A376C53-72F1-44D5-A92D-D519307B7500}" type="datetime1">
              <a:rPr lang="pt-PT" noProof="0" smtClean="0"/>
              <a:t>03/08/2025</a:t>
            </a:fld>
            <a:endParaRPr lang="pt-PT" noProof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PT" noProof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359379A-16E2-4C4A-96D0-A52C442257E7}" type="slidenum">
              <a:rPr lang="pt-PT" noProof="0" smtClean="0"/>
              <a:t>‹nº›</a:t>
            </a:fld>
            <a:endParaRPr lang="pt-PT" noProof="0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o.microsoft.com/fwlink/?linkid=85684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microsoft.com/office/2017/06/relationships/model3d" Target="../media/model3d1.glb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microsoft.com/office/2017/06/relationships/model3d" Target="../media/model3d1.glb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microsoft.com/office/2017/06/relationships/model3d" Target="../media/model3d1.glb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hyperlink" Target="http://go.microsoft.com/fwlink/?LinkId=623327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hyperlink" Target="http://go.microsoft.com/fwlink/?LinkId=617172" TargetMode="Externa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PT" dirty="0"/>
              <a:t>Dê Vida às Suas Apresentações com Modelos 3D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322DE6-C2BE-4B53-BC28-C43EBD0052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PT"/>
              <a:t>Como começar a utilizar modelos 3D no PowerPoint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66FA85D-3B0A-4E0C-B8AC-042993910A93}"/>
              </a:ext>
            </a:extLst>
          </p:cNvPr>
          <p:cNvSpPr txBox="1">
            <a:spLocks/>
          </p:cNvSpPr>
          <p:nvPr/>
        </p:nvSpPr>
        <p:spPr>
          <a:xfrm>
            <a:off x="8077762" y="5255593"/>
            <a:ext cx="2447364" cy="495232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 rtl="0">
              <a:spcBef>
                <a:spcPts val="1000"/>
              </a:spcBef>
            </a:pPr>
            <a:r>
              <a:rPr lang="pt-PT" sz="1800">
                <a:solidFill>
                  <a:schemeClr val="bg1"/>
                </a:solidFill>
                <a:latin typeface="+mj-lt"/>
                <a:ea typeface="+mn-ea"/>
                <a:cs typeface="+mn-cs"/>
              </a:rPr>
              <a:t>Sobre este conjunto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8077762" y="5524500"/>
            <a:ext cx="3708854" cy="102056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t-PT" sz="1200"/>
              <a:t>Os </a:t>
            </a:r>
            <a:r>
              <a:rPr lang="pt-PT" sz="1200" u="sng">
                <a:hlinkClick r:id="rId3"/>
              </a:rPr>
              <a:t>subscritores do Office</a:t>
            </a:r>
            <a:r>
              <a:rPr lang="pt-PT" sz="1200"/>
              <a:t> podem adicionar modelos 3D a documentos e rodar o ângulo dos mesmos para mostrar a vista adequada. Se não tiver uma subscrição, a apresentação mostra apenas uma única vista.</a:t>
            </a:r>
          </a:p>
          <a:p>
            <a:pPr rtl="0"/>
            <a:endParaRPr lang="pt-PT" sz="1200" u="sng"/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dirty="0"/>
              <a:t>Porquê utilizar modelos 3D?</a:t>
            </a:r>
          </a:p>
        </p:txBody>
      </p:sp>
      <p:sp>
        <p:nvSpPr>
          <p:cNvPr id="4" name="Marcador de Posição do Texto 5" descr="Dispositivos 2D">
            <a:extLst>
              <a:ext uri="{FF2B5EF4-FFF2-40B4-BE49-F238E27FC236}">
                <a16:creationId xmlns:a16="http://schemas.microsoft.com/office/drawing/2014/main" id="{5D483DB7-3925-4129-9AB3-FF75028415D3}"/>
              </a:ext>
            </a:extLst>
          </p:cNvPr>
          <p:cNvSpPr txBox="1">
            <a:spLocks/>
          </p:cNvSpPr>
          <p:nvPr/>
        </p:nvSpPr>
        <p:spPr>
          <a:xfrm>
            <a:off x="1382178" y="1452563"/>
            <a:ext cx="3475038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buNone/>
            </a:pPr>
            <a:r>
              <a:rPr lang="pt-PT" sz="1800" dirty="0">
                <a:latin typeface="+mj-lt"/>
                <a:ea typeface="+mj-ea"/>
                <a:cs typeface="+mj-cs"/>
              </a:rPr>
              <a:t>Dispositivos 2D</a:t>
            </a:r>
          </a:p>
        </p:txBody>
      </p:sp>
      <p:grpSp>
        <p:nvGrpSpPr>
          <p:cNvPr id="22" name="Grupo de Diapositivos 2D" descr="Imagem de Diapositivos do PowerPoint com uma Caixa 2D e texto ilegível junto à mesma.">
            <a:extLst>
              <a:ext uri="{FF2B5EF4-FFF2-40B4-BE49-F238E27FC236}">
                <a16:creationId xmlns:a16="http://schemas.microsoft.com/office/drawing/2014/main" id="{2740CA73-027D-4FFA-B5C8-FACB4DA7E930}"/>
              </a:ext>
            </a:extLst>
          </p:cNvPr>
          <p:cNvGrpSpPr/>
          <p:nvPr/>
        </p:nvGrpSpPr>
        <p:grpSpPr>
          <a:xfrm>
            <a:off x="2448703" y="2334765"/>
            <a:ext cx="1418136" cy="1812629"/>
            <a:chOff x="744040" y="2334765"/>
            <a:chExt cx="1418136" cy="1812629"/>
          </a:xfrm>
        </p:grpSpPr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0447891D-BDA7-4947-8603-28FA764E3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373731" y="3358950"/>
              <a:ext cx="158757" cy="1418132"/>
            </a:xfrm>
            <a:custGeom>
              <a:avLst/>
              <a:gdLst>
                <a:gd name="connsiteX0" fmla="*/ 0 w 904096"/>
                <a:gd name="connsiteY0" fmla="*/ 0 h 660218"/>
                <a:gd name="connsiteX1" fmla="*/ 904096 w 904096"/>
                <a:gd name="connsiteY1" fmla="*/ 0 h 660218"/>
                <a:gd name="connsiteX2" fmla="*/ 904096 w 904096"/>
                <a:gd name="connsiteY2" fmla="*/ 660218 h 660218"/>
                <a:gd name="connsiteX3" fmla="*/ 0 w 904096"/>
                <a:gd name="connsiteY3" fmla="*/ 660218 h 660218"/>
                <a:gd name="connsiteX4" fmla="*/ 0 w 904096"/>
                <a:gd name="connsiteY4" fmla="*/ 0 h 660218"/>
                <a:gd name="connsiteX0" fmla="*/ 10305 w 914401"/>
                <a:gd name="connsiteY0" fmla="*/ 0 h 660218"/>
                <a:gd name="connsiteX1" fmla="*/ 914401 w 914401"/>
                <a:gd name="connsiteY1" fmla="*/ 0 h 660218"/>
                <a:gd name="connsiteX2" fmla="*/ 914401 w 914401"/>
                <a:gd name="connsiteY2" fmla="*/ 660218 h 660218"/>
                <a:gd name="connsiteX3" fmla="*/ 10305 w 914401"/>
                <a:gd name="connsiteY3" fmla="*/ 660218 h 660218"/>
                <a:gd name="connsiteX4" fmla="*/ 0 w 914401"/>
                <a:gd name="connsiteY4" fmla="*/ 429315 h 660218"/>
                <a:gd name="connsiteX5" fmla="*/ 10305 w 914401"/>
                <a:gd name="connsiteY5" fmla="*/ 0 h 660218"/>
                <a:gd name="connsiteX0" fmla="*/ 10305 w 914401"/>
                <a:gd name="connsiteY0" fmla="*/ 0 h 660218"/>
                <a:gd name="connsiteX1" fmla="*/ 914401 w 914401"/>
                <a:gd name="connsiteY1" fmla="*/ 0 h 660218"/>
                <a:gd name="connsiteX2" fmla="*/ 914401 w 914401"/>
                <a:gd name="connsiteY2" fmla="*/ 660218 h 660218"/>
                <a:gd name="connsiteX3" fmla="*/ 10305 w 914401"/>
                <a:gd name="connsiteY3" fmla="*/ 660218 h 660218"/>
                <a:gd name="connsiteX4" fmla="*/ 0 w 914401"/>
                <a:gd name="connsiteY4" fmla="*/ 467415 h 660218"/>
                <a:gd name="connsiteX5" fmla="*/ 10305 w 914401"/>
                <a:gd name="connsiteY5" fmla="*/ 0 h 660218"/>
                <a:gd name="connsiteX0" fmla="*/ 0 w 904096"/>
                <a:gd name="connsiteY0" fmla="*/ 0 h 660218"/>
                <a:gd name="connsiteX1" fmla="*/ 904096 w 904096"/>
                <a:gd name="connsiteY1" fmla="*/ 0 h 660218"/>
                <a:gd name="connsiteX2" fmla="*/ 904096 w 904096"/>
                <a:gd name="connsiteY2" fmla="*/ 660218 h 660218"/>
                <a:gd name="connsiteX3" fmla="*/ 0 w 904096"/>
                <a:gd name="connsiteY3" fmla="*/ 660218 h 660218"/>
                <a:gd name="connsiteX4" fmla="*/ 2395 w 904096"/>
                <a:gd name="connsiteY4" fmla="*/ 429315 h 660218"/>
                <a:gd name="connsiteX5" fmla="*/ 0 w 904096"/>
                <a:gd name="connsiteY5" fmla="*/ 0 h 660218"/>
                <a:gd name="connsiteX0" fmla="*/ 2395 w 904096"/>
                <a:gd name="connsiteY0" fmla="*/ 429315 h 660218"/>
                <a:gd name="connsiteX1" fmla="*/ 0 w 904096"/>
                <a:gd name="connsiteY1" fmla="*/ 0 h 660218"/>
                <a:gd name="connsiteX2" fmla="*/ 904096 w 904096"/>
                <a:gd name="connsiteY2" fmla="*/ 0 h 660218"/>
                <a:gd name="connsiteX3" fmla="*/ 904096 w 904096"/>
                <a:gd name="connsiteY3" fmla="*/ 660218 h 660218"/>
                <a:gd name="connsiteX4" fmla="*/ 0 w 904096"/>
                <a:gd name="connsiteY4" fmla="*/ 660218 h 660218"/>
                <a:gd name="connsiteX5" fmla="*/ 93835 w 904096"/>
                <a:gd name="connsiteY5" fmla="*/ 520755 h 660218"/>
                <a:gd name="connsiteX0" fmla="*/ 2395 w 904096"/>
                <a:gd name="connsiteY0" fmla="*/ 429315 h 660218"/>
                <a:gd name="connsiteX1" fmla="*/ 0 w 904096"/>
                <a:gd name="connsiteY1" fmla="*/ 0 h 660218"/>
                <a:gd name="connsiteX2" fmla="*/ 904096 w 904096"/>
                <a:gd name="connsiteY2" fmla="*/ 0 h 660218"/>
                <a:gd name="connsiteX3" fmla="*/ 904096 w 904096"/>
                <a:gd name="connsiteY3" fmla="*/ 660218 h 660218"/>
                <a:gd name="connsiteX4" fmla="*/ 0 w 904096"/>
                <a:gd name="connsiteY4" fmla="*/ 660218 h 660218"/>
                <a:gd name="connsiteX0" fmla="*/ 0 w 904096"/>
                <a:gd name="connsiteY0" fmla="*/ 0 h 660218"/>
                <a:gd name="connsiteX1" fmla="*/ 904096 w 904096"/>
                <a:gd name="connsiteY1" fmla="*/ 0 h 660218"/>
                <a:gd name="connsiteX2" fmla="*/ 904096 w 904096"/>
                <a:gd name="connsiteY2" fmla="*/ 660218 h 660218"/>
                <a:gd name="connsiteX3" fmla="*/ 0 w 904096"/>
                <a:gd name="connsiteY3" fmla="*/ 660218 h 66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4096" h="660218">
                  <a:moveTo>
                    <a:pt x="0" y="0"/>
                  </a:moveTo>
                  <a:lnTo>
                    <a:pt x="904096" y="0"/>
                  </a:lnTo>
                  <a:lnTo>
                    <a:pt x="904096" y="660218"/>
                  </a:lnTo>
                  <a:lnTo>
                    <a:pt x="0" y="660218"/>
                  </a:lnTo>
                </a:path>
              </a:pathLst>
            </a:custGeom>
            <a:noFill/>
            <a:ln w="25400" cap="rnd" cmpd="sng">
              <a:gradFill flip="none" rotWithShape="1">
                <a:gsLst>
                  <a:gs pos="31000">
                    <a:srgbClr val="F5F5F5"/>
                  </a:gs>
                  <a:gs pos="100000">
                    <a:srgbClr val="A2A2A2"/>
                  </a:gs>
                </a:gsLst>
                <a:lin ang="0" scaled="1"/>
                <a:tileRect/>
              </a:gra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24" name="Retângulo 22">
              <a:extLst>
                <a:ext uri="{FF2B5EF4-FFF2-40B4-BE49-F238E27FC236}">
                  <a16:creationId xmlns:a16="http://schemas.microsoft.com/office/drawing/2014/main" id="{B9E5B39B-B796-49E5-ABFC-21CAA73F7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298502" y="1780307"/>
              <a:ext cx="309216" cy="1418132"/>
            </a:xfrm>
            <a:custGeom>
              <a:avLst/>
              <a:gdLst>
                <a:gd name="connsiteX0" fmla="*/ 0 w 904096"/>
                <a:gd name="connsiteY0" fmla="*/ 0 h 660218"/>
                <a:gd name="connsiteX1" fmla="*/ 904096 w 904096"/>
                <a:gd name="connsiteY1" fmla="*/ 0 h 660218"/>
                <a:gd name="connsiteX2" fmla="*/ 904096 w 904096"/>
                <a:gd name="connsiteY2" fmla="*/ 660218 h 660218"/>
                <a:gd name="connsiteX3" fmla="*/ 0 w 904096"/>
                <a:gd name="connsiteY3" fmla="*/ 660218 h 660218"/>
                <a:gd name="connsiteX4" fmla="*/ 0 w 904096"/>
                <a:gd name="connsiteY4" fmla="*/ 0 h 660218"/>
                <a:gd name="connsiteX0" fmla="*/ 10305 w 914401"/>
                <a:gd name="connsiteY0" fmla="*/ 0 h 660218"/>
                <a:gd name="connsiteX1" fmla="*/ 914401 w 914401"/>
                <a:gd name="connsiteY1" fmla="*/ 0 h 660218"/>
                <a:gd name="connsiteX2" fmla="*/ 914401 w 914401"/>
                <a:gd name="connsiteY2" fmla="*/ 660218 h 660218"/>
                <a:gd name="connsiteX3" fmla="*/ 10305 w 914401"/>
                <a:gd name="connsiteY3" fmla="*/ 660218 h 660218"/>
                <a:gd name="connsiteX4" fmla="*/ 0 w 914401"/>
                <a:gd name="connsiteY4" fmla="*/ 429315 h 660218"/>
                <a:gd name="connsiteX5" fmla="*/ 10305 w 914401"/>
                <a:gd name="connsiteY5" fmla="*/ 0 h 660218"/>
                <a:gd name="connsiteX0" fmla="*/ 10305 w 914401"/>
                <a:gd name="connsiteY0" fmla="*/ 0 h 660218"/>
                <a:gd name="connsiteX1" fmla="*/ 914401 w 914401"/>
                <a:gd name="connsiteY1" fmla="*/ 0 h 660218"/>
                <a:gd name="connsiteX2" fmla="*/ 914401 w 914401"/>
                <a:gd name="connsiteY2" fmla="*/ 660218 h 660218"/>
                <a:gd name="connsiteX3" fmla="*/ 10305 w 914401"/>
                <a:gd name="connsiteY3" fmla="*/ 660218 h 660218"/>
                <a:gd name="connsiteX4" fmla="*/ 0 w 914401"/>
                <a:gd name="connsiteY4" fmla="*/ 467415 h 660218"/>
                <a:gd name="connsiteX5" fmla="*/ 10305 w 914401"/>
                <a:gd name="connsiteY5" fmla="*/ 0 h 660218"/>
                <a:gd name="connsiteX0" fmla="*/ 0 w 904096"/>
                <a:gd name="connsiteY0" fmla="*/ 0 h 660218"/>
                <a:gd name="connsiteX1" fmla="*/ 904096 w 904096"/>
                <a:gd name="connsiteY1" fmla="*/ 0 h 660218"/>
                <a:gd name="connsiteX2" fmla="*/ 904096 w 904096"/>
                <a:gd name="connsiteY2" fmla="*/ 660218 h 660218"/>
                <a:gd name="connsiteX3" fmla="*/ 0 w 904096"/>
                <a:gd name="connsiteY3" fmla="*/ 660218 h 660218"/>
                <a:gd name="connsiteX4" fmla="*/ 2395 w 904096"/>
                <a:gd name="connsiteY4" fmla="*/ 429315 h 660218"/>
                <a:gd name="connsiteX5" fmla="*/ 0 w 904096"/>
                <a:gd name="connsiteY5" fmla="*/ 0 h 660218"/>
                <a:gd name="connsiteX0" fmla="*/ 2395 w 904096"/>
                <a:gd name="connsiteY0" fmla="*/ 429315 h 660218"/>
                <a:gd name="connsiteX1" fmla="*/ 0 w 904096"/>
                <a:gd name="connsiteY1" fmla="*/ 0 h 660218"/>
                <a:gd name="connsiteX2" fmla="*/ 904096 w 904096"/>
                <a:gd name="connsiteY2" fmla="*/ 0 h 660218"/>
                <a:gd name="connsiteX3" fmla="*/ 904096 w 904096"/>
                <a:gd name="connsiteY3" fmla="*/ 660218 h 660218"/>
                <a:gd name="connsiteX4" fmla="*/ 0 w 904096"/>
                <a:gd name="connsiteY4" fmla="*/ 660218 h 660218"/>
                <a:gd name="connsiteX5" fmla="*/ 93835 w 904096"/>
                <a:gd name="connsiteY5" fmla="*/ 520755 h 660218"/>
                <a:gd name="connsiteX0" fmla="*/ 2395 w 904096"/>
                <a:gd name="connsiteY0" fmla="*/ 429315 h 660218"/>
                <a:gd name="connsiteX1" fmla="*/ 0 w 904096"/>
                <a:gd name="connsiteY1" fmla="*/ 0 h 660218"/>
                <a:gd name="connsiteX2" fmla="*/ 904096 w 904096"/>
                <a:gd name="connsiteY2" fmla="*/ 0 h 660218"/>
                <a:gd name="connsiteX3" fmla="*/ 904096 w 904096"/>
                <a:gd name="connsiteY3" fmla="*/ 660218 h 660218"/>
                <a:gd name="connsiteX4" fmla="*/ 0 w 904096"/>
                <a:gd name="connsiteY4" fmla="*/ 660218 h 660218"/>
                <a:gd name="connsiteX0" fmla="*/ 0 w 904096"/>
                <a:gd name="connsiteY0" fmla="*/ 0 h 660218"/>
                <a:gd name="connsiteX1" fmla="*/ 904096 w 904096"/>
                <a:gd name="connsiteY1" fmla="*/ 0 h 660218"/>
                <a:gd name="connsiteX2" fmla="*/ 904096 w 904096"/>
                <a:gd name="connsiteY2" fmla="*/ 660218 h 660218"/>
                <a:gd name="connsiteX3" fmla="*/ 0 w 904096"/>
                <a:gd name="connsiteY3" fmla="*/ 660218 h 66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4096" h="660218">
                  <a:moveTo>
                    <a:pt x="0" y="0"/>
                  </a:moveTo>
                  <a:lnTo>
                    <a:pt x="904096" y="0"/>
                  </a:lnTo>
                  <a:lnTo>
                    <a:pt x="904096" y="660218"/>
                  </a:lnTo>
                  <a:lnTo>
                    <a:pt x="0" y="660218"/>
                  </a:lnTo>
                </a:path>
              </a:pathLst>
            </a:custGeom>
            <a:noFill/>
            <a:ln w="25400" cap="rnd" cmpd="sng">
              <a:gradFill flip="none" rotWithShape="1">
                <a:gsLst>
                  <a:gs pos="31000">
                    <a:srgbClr val="F5F5F5"/>
                  </a:gs>
                  <a:gs pos="100000">
                    <a:srgbClr val="A2A2A2"/>
                  </a:gs>
                </a:gsLst>
                <a:lin ang="0" scaled="1"/>
                <a:tileRect/>
              </a:gra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692EE7B8-EFC2-457E-B404-B6084BFFAAC8}"/>
                </a:ext>
              </a:extLst>
            </p:cNvPr>
            <p:cNvGrpSpPr/>
            <p:nvPr/>
          </p:nvGrpSpPr>
          <p:grpSpPr>
            <a:xfrm>
              <a:off x="744040" y="2786850"/>
              <a:ext cx="1418132" cy="1038195"/>
              <a:chOff x="744040" y="2805900"/>
              <a:chExt cx="1418132" cy="1038195"/>
            </a:xfrm>
          </p:grpSpPr>
          <p:sp>
            <p:nvSpPr>
              <p:cNvPr id="26" name="Retângulo 22">
                <a:extLst>
                  <a:ext uri="{FF2B5EF4-FFF2-40B4-BE49-F238E27FC236}">
                    <a16:creationId xmlns:a16="http://schemas.microsoft.com/office/drawing/2014/main" id="{E6D80247-9DB3-4AD6-A598-14FDFFF884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4041" y="2805901"/>
                <a:ext cx="1418131" cy="1035593"/>
              </a:xfrm>
              <a:custGeom>
                <a:avLst/>
                <a:gdLst>
                  <a:gd name="connsiteX0" fmla="*/ 0 w 1084813"/>
                  <a:gd name="connsiteY0" fmla="*/ 0 h 792188"/>
                  <a:gd name="connsiteX1" fmla="*/ 1084813 w 1084813"/>
                  <a:gd name="connsiteY1" fmla="*/ 0 h 792188"/>
                  <a:gd name="connsiteX2" fmla="*/ 1084813 w 1084813"/>
                  <a:gd name="connsiteY2" fmla="*/ 792188 h 792188"/>
                  <a:gd name="connsiteX3" fmla="*/ 0 w 1084813"/>
                  <a:gd name="connsiteY3" fmla="*/ 792188 h 792188"/>
                  <a:gd name="connsiteX4" fmla="*/ 0 w 1084813"/>
                  <a:gd name="connsiteY4" fmla="*/ 0 h 792188"/>
                  <a:gd name="connsiteX0" fmla="*/ 0 w 1084813"/>
                  <a:gd name="connsiteY0" fmla="*/ 792188 h 883628"/>
                  <a:gd name="connsiteX1" fmla="*/ 0 w 1084813"/>
                  <a:gd name="connsiteY1" fmla="*/ 0 h 883628"/>
                  <a:gd name="connsiteX2" fmla="*/ 1084813 w 1084813"/>
                  <a:gd name="connsiteY2" fmla="*/ 0 h 883628"/>
                  <a:gd name="connsiteX3" fmla="*/ 1084813 w 1084813"/>
                  <a:gd name="connsiteY3" fmla="*/ 792188 h 883628"/>
                  <a:gd name="connsiteX4" fmla="*/ 91440 w 1084813"/>
                  <a:gd name="connsiteY4" fmla="*/ 883628 h 883628"/>
                  <a:gd name="connsiteX0" fmla="*/ 0 w 1084813"/>
                  <a:gd name="connsiteY0" fmla="*/ 792188 h 792188"/>
                  <a:gd name="connsiteX1" fmla="*/ 0 w 1084813"/>
                  <a:gd name="connsiteY1" fmla="*/ 0 h 792188"/>
                  <a:gd name="connsiteX2" fmla="*/ 1084813 w 1084813"/>
                  <a:gd name="connsiteY2" fmla="*/ 0 h 792188"/>
                  <a:gd name="connsiteX3" fmla="*/ 1084813 w 1084813"/>
                  <a:gd name="connsiteY3" fmla="*/ 792188 h 792188"/>
                  <a:gd name="connsiteX0" fmla="*/ 0 w 1084813"/>
                  <a:gd name="connsiteY0" fmla="*/ 0 h 792188"/>
                  <a:gd name="connsiteX1" fmla="*/ 1084813 w 1084813"/>
                  <a:gd name="connsiteY1" fmla="*/ 0 h 792188"/>
                  <a:gd name="connsiteX2" fmla="*/ 1084813 w 1084813"/>
                  <a:gd name="connsiteY2" fmla="*/ 792188 h 792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4813" h="792188">
                    <a:moveTo>
                      <a:pt x="0" y="0"/>
                    </a:moveTo>
                    <a:lnTo>
                      <a:pt x="1084813" y="0"/>
                    </a:lnTo>
                    <a:lnTo>
                      <a:pt x="1084813" y="792188"/>
                    </a:lnTo>
                  </a:path>
                </a:pathLst>
              </a:custGeom>
              <a:noFill/>
              <a:ln w="25400" cap="rnd">
                <a:solidFill>
                  <a:schemeClr val="bg1">
                    <a:lumMod val="6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PT" dirty="0"/>
              </a:p>
            </p:txBody>
          </p:sp>
          <p:cxnSp>
            <p:nvCxnSpPr>
              <p:cNvPr id="27" name="Conexão Reta 26">
                <a:extLst>
                  <a:ext uri="{FF2B5EF4-FFF2-40B4-BE49-F238E27FC236}">
                    <a16:creationId xmlns:a16="http://schemas.microsoft.com/office/drawing/2014/main" id="{C0527988-CCCA-4FB8-95C8-F00BB164F0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>
              <a:xfrm rot="16200000">
                <a:off x="1453107" y="3135028"/>
                <a:ext cx="0" cy="141813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prstDash val="solid"/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  <p:cxnSp>
            <p:nvCxnSpPr>
              <p:cNvPr id="28" name="Conexão Reta 27">
                <a:extLst>
                  <a:ext uri="{FF2B5EF4-FFF2-40B4-BE49-F238E27FC236}">
                    <a16:creationId xmlns:a16="http://schemas.microsoft.com/office/drawing/2014/main" id="{E6467426-F904-4A59-8015-B4246F7661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4040" y="2805900"/>
                <a:ext cx="3" cy="1038195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prstDash val="solid"/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  <p:sp>
            <p:nvSpPr>
              <p:cNvPr id="29" name="Retângulo 28">
                <a:extLst>
                  <a:ext uri="{FF2B5EF4-FFF2-40B4-BE49-F238E27FC236}">
                    <a16:creationId xmlns:a16="http://schemas.microsoft.com/office/drawing/2014/main" id="{01D44F49-963F-428C-A363-2C19FD5DC5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82178" y="3040410"/>
                <a:ext cx="584815" cy="495716"/>
              </a:xfrm>
              <a:prstGeom prst="rect">
                <a:avLst/>
              </a:prstGeom>
              <a:noFill/>
              <a:ln w="25400" cap="rnd">
                <a:solidFill>
                  <a:schemeClr val="bg1">
                    <a:lumMod val="65000"/>
                  </a:schemeClr>
                </a:solidFill>
                <a:prstDash val="solid"/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PT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Conexão Reta 29">
                <a:extLst>
                  <a:ext uri="{FF2B5EF4-FFF2-40B4-BE49-F238E27FC236}">
                    <a16:creationId xmlns:a16="http://schemas.microsoft.com/office/drawing/2014/main" id="{6F1C48F5-4394-423D-A195-6EA12BE5D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>
              <a:xfrm>
                <a:off x="900670" y="3079999"/>
                <a:ext cx="265635" cy="0"/>
              </a:xfrm>
              <a:prstGeom prst="line">
                <a:avLst/>
              </a:prstGeom>
              <a:noFill/>
              <a:ln w="25400" cap="rnd" cmpd="sng">
                <a:solidFill>
                  <a:srgbClr val="C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  <p:cxnSp>
            <p:nvCxnSpPr>
              <p:cNvPr id="31" name="Conexão Reta 30">
                <a:extLst>
                  <a:ext uri="{FF2B5EF4-FFF2-40B4-BE49-F238E27FC236}">
                    <a16:creationId xmlns:a16="http://schemas.microsoft.com/office/drawing/2014/main" id="{E9862AF6-674E-436B-9CCC-17341E434F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3488" y="3234850"/>
                <a:ext cx="132817" cy="0"/>
              </a:xfrm>
              <a:prstGeom prst="line">
                <a:avLst/>
              </a:prstGeom>
              <a:noFill/>
              <a:ln w="25400" cap="rnd" cmpd="sng">
                <a:solidFill>
                  <a:srgbClr val="C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</p:grpSp>
      <p:sp>
        <p:nvSpPr>
          <p:cNvPr id="5" name="Caixa de texto 2D 1">
            <a:extLst>
              <a:ext uri="{FF2B5EF4-FFF2-40B4-BE49-F238E27FC236}">
                <a16:creationId xmlns:a16="http://schemas.microsoft.com/office/drawing/2014/main" id="{CAA61E68-C8F4-4610-BC1E-4D08000B9C76}"/>
              </a:ext>
            </a:extLst>
          </p:cNvPr>
          <p:cNvSpPr txBox="1"/>
          <p:nvPr/>
        </p:nvSpPr>
        <p:spPr>
          <a:xfrm>
            <a:off x="2172509" y="4638251"/>
            <a:ext cx="2625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PT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diapositivos são imagens verticais estáticas.</a:t>
            </a:r>
          </a:p>
        </p:txBody>
      </p:sp>
      <p:sp>
        <p:nvSpPr>
          <p:cNvPr id="6" name="Caixa de texto 2D 2">
            <a:extLst>
              <a:ext uri="{FF2B5EF4-FFF2-40B4-BE49-F238E27FC236}">
                <a16:creationId xmlns:a16="http://schemas.microsoft.com/office/drawing/2014/main" id="{F7E77654-B14A-463A-9892-AB5ABE4D5E5E}"/>
              </a:ext>
            </a:extLst>
          </p:cNvPr>
          <p:cNvSpPr txBox="1"/>
          <p:nvPr/>
        </p:nvSpPr>
        <p:spPr>
          <a:xfrm>
            <a:off x="2172509" y="5174604"/>
            <a:ext cx="2930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rtl="0"/>
            <a:r>
              <a:rPr lang="pt-PT" dirty="0"/>
              <a:t>A audiência é passiva e não pode interagir.</a:t>
            </a:r>
          </a:p>
        </p:txBody>
      </p:sp>
      <p:sp>
        <p:nvSpPr>
          <p:cNvPr id="32" name="Marcador de Posição do Texto 6" descr="Modelos 3D">
            <a:extLst>
              <a:ext uri="{FF2B5EF4-FFF2-40B4-BE49-F238E27FC236}">
                <a16:creationId xmlns:a16="http://schemas.microsoft.com/office/drawing/2014/main" id="{0D4EB70A-0A14-4B27-B499-59D76007ABA8}"/>
              </a:ext>
            </a:extLst>
          </p:cNvPr>
          <p:cNvSpPr txBox="1">
            <a:spLocks/>
          </p:cNvSpPr>
          <p:nvPr/>
        </p:nvSpPr>
        <p:spPr>
          <a:xfrm>
            <a:off x="6949858" y="1452563"/>
            <a:ext cx="3475038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buNone/>
            </a:pPr>
            <a:r>
              <a:rPr lang="pt-PT" sz="1800" dirty="0">
                <a:latin typeface="+mj-lt"/>
                <a:ea typeface="+mj-ea"/>
                <a:cs typeface="+mj-cs"/>
              </a:rPr>
              <a:t>Modelos 3D</a:t>
            </a:r>
          </a:p>
        </p:txBody>
      </p:sp>
      <p:pic>
        <p:nvPicPr>
          <p:cNvPr id="3" name="Grelha" descr="plano de grelha">
            <a:extLst>
              <a:ext uri="{FF2B5EF4-FFF2-40B4-BE49-F238E27FC236}">
                <a16:creationId xmlns:a16="http://schemas.microsoft.com/office/drawing/2014/main" id="{71F5A0B2-7584-4034-8919-A5F2C482F46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-1096"/>
          <a:stretch/>
        </p:blipFill>
        <p:spPr>
          <a:xfrm>
            <a:off x="5827143" y="2570364"/>
            <a:ext cx="5896604" cy="3030452"/>
          </a:xfrm>
          <a:prstGeom prst="rect">
            <a:avLst/>
          </a:prstGeom>
        </p:spPr>
      </p:pic>
      <p:grpSp>
        <p:nvGrpSpPr>
          <p:cNvPr id="9" name="Cubo" descr="Cubo com um controlo de rotação 3D">
            <a:extLst>
              <a:ext uri="{FF2B5EF4-FFF2-40B4-BE49-F238E27FC236}">
                <a16:creationId xmlns:a16="http://schemas.microsoft.com/office/drawing/2014/main" id="{924FAB36-8DBD-4698-B240-7634FDAAC8B7}"/>
              </a:ext>
            </a:extLst>
          </p:cNvPr>
          <p:cNvGrpSpPr/>
          <p:nvPr/>
        </p:nvGrpSpPr>
        <p:grpSpPr>
          <a:xfrm>
            <a:off x="7822269" y="2552528"/>
            <a:ext cx="1861399" cy="1621965"/>
            <a:chOff x="4599319" y="2552528"/>
            <a:chExt cx="1861399" cy="1621965"/>
          </a:xfrm>
        </p:grpSpPr>
        <p:sp>
          <p:nvSpPr>
            <p:cNvPr id="10" name="Forma livre 5">
              <a:extLst>
                <a:ext uri="{FF2B5EF4-FFF2-40B4-BE49-F238E27FC236}">
                  <a16:creationId xmlns:a16="http://schemas.microsoft.com/office/drawing/2014/main" id="{10E7FCA4-3412-493F-BCF2-4FD94D4BB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606" y="2552528"/>
              <a:ext cx="1859112" cy="1621965"/>
            </a:xfrm>
            <a:custGeom>
              <a:avLst/>
              <a:gdLst>
                <a:gd name="T0" fmla="*/ 1270 w 1270"/>
                <a:gd name="T1" fmla="*/ 163 h 1108"/>
                <a:gd name="T2" fmla="*/ 1270 w 1270"/>
                <a:gd name="T3" fmla="*/ 796 h 1108"/>
                <a:gd name="T4" fmla="*/ 635 w 1270"/>
                <a:gd name="T5" fmla="*/ 1108 h 1108"/>
                <a:gd name="T6" fmla="*/ 0 w 1270"/>
                <a:gd name="T7" fmla="*/ 796 h 1108"/>
                <a:gd name="T8" fmla="*/ 0 w 1270"/>
                <a:gd name="T9" fmla="*/ 165 h 1108"/>
                <a:gd name="T10" fmla="*/ 0 w 1270"/>
                <a:gd name="T11" fmla="*/ 165 h 1108"/>
                <a:gd name="T12" fmla="*/ 0 w 1270"/>
                <a:gd name="T13" fmla="*/ 165 h 1108"/>
                <a:gd name="T14" fmla="*/ 0 w 1270"/>
                <a:gd name="T15" fmla="*/ 157 h 1108"/>
                <a:gd name="T16" fmla="*/ 623 w 1270"/>
                <a:gd name="T17" fmla="*/ 0 h 1108"/>
                <a:gd name="T18" fmla="*/ 623 w 1270"/>
                <a:gd name="T19" fmla="*/ 0 h 1108"/>
                <a:gd name="T20" fmla="*/ 623 w 1270"/>
                <a:gd name="T21" fmla="*/ 0 h 1108"/>
                <a:gd name="T22" fmla="*/ 1270 w 1270"/>
                <a:gd name="T23" fmla="*/ 155 h 1108"/>
                <a:gd name="T24" fmla="*/ 1270 w 1270"/>
                <a:gd name="T25" fmla="*/ 163 h 1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70" h="1108">
                  <a:moveTo>
                    <a:pt x="1270" y="163"/>
                  </a:moveTo>
                  <a:lnTo>
                    <a:pt x="1270" y="796"/>
                  </a:lnTo>
                  <a:lnTo>
                    <a:pt x="635" y="1108"/>
                  </a:lnTo>
                  <a:lnTo>
                    <a:pt x="0" y="796"/>
                  </a:lnTo>
                  <a:lnTo>
                    <a:pt x="0" y="165"/>
                  </a:lnTo>
                  <a:lnTo>
                    <a:pt x="0" y="165"/>
                  </a:lnTo>
                  <a:lnTo>
                    <a:pt x="0" y="165"/>
                  </a:lnTo>
                  <a:lnTo>
                    <a:pt x="0" y="157"/>
                  </a:lnTo>
                  <a:lnTo>
                    <a:pt x="623" y="0"/>
                  </a:lnTo>
                  <a:lnTo>
                    <a:pt x="623" y="0"/>
                  </a:lnTo>
                  <a:lnTo>
                    <a:pt x="623" y="0"/>
                  </a:lnTo>
                  <a:lnTo>
                    <a:pt x="1270" y="155"/>
                  </a:lnTo>
                  <a:lnTo>
                    <a:pt x="1270" y="163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sp>
          <p:nvSpPr>
            <p:cNvPr id="11" name="Linha 46">
              <a:extLst>
                <a:ext uri="{FF2B5EF4-FFF2-40B4-BE49-F238E27FC236}">
                  <a16:creationId xmlns:a16="http://schemas.microsoft.com/office/drawing/2014/main" id="{269E6021-A768-4A36-97E2-2B1B9A39E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31567" y="3098226"/>
              <a:ext cx="0" cy="1076267"/>
            </a:xfrm>
            <a:prstGeom prst="line">
              <a:avLst/>
            </a:prstGeom>
            <a:noFill/>
            <a:ln w="25400" cap="rnd">
              <a:solidFill>
                <a:schemeClr val="bg1">
                  <a:lumMod val="6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PT" dirty="0"/>
            </a:p>
          </p:txBody>
        </p: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1E293B5C-A808-43E2-ABC7-0D662783438C}"/>
                </a:ext>
              </a:extLst>
            </p:cNvPr>
            <p:cNvGrpSpPr/>
            <p:nvPr/>
          </p:nvGrpSpPr>
          <p:grpSpPr>
            <a:xfrm>
              <a:off x="4599319" y="2553433"/>
              <a:ext cx="1861399" cy="1621060"/>
              <a:chOff x="4599319" y="2553433"/>
              <a:chExt cx="1861399" cy="1621060"/>
            </a:xfrm>
          </p:grpSpPr>
          <p:sp>
            <p:nvSpPr>
              <p:cNvPr id="20" name="Forma livre 45">
                <a:extLst>
                  <a:ext uri="{FF2B5EF4-FFF2-40B4-BE49-F238E27FC236}">
                    <a16:creationId xmlns:a16="http://schemas.microsoft.com/office/drawing/2014/main" id="{6E8C7F5F-72D8-4D10-A4D9-7562B4C912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9319" y="2788509"/>
                <a:ext cx="1861399" cy="1385984"/>
              </a:xfrm>
              <a:custGeom>
                <a:avLst/>
                <a:gdLst>
                  <a:gd name="T0" fmla="*/ 0 w 1202"/>
                  <a:gd name="T1" fmla="*/ 2 h 895"/>
                  <a:gd name="T2" fmla="*/ 602 w 1202"/>
                  <a:gd name="T3" fmla="*/ 200 h 895"/>
                  <a:gd name="T4" fmla="*/ 1202 w 1202"/>
                  <a:gd name="T5" fmla="*/ 0 h 895"/>
                  <a:gd name="T6" fmla="*/ 1202 w 1202"/>
                  <a:gd name="T7" fmla="*/ 600 h 895"/>
                  <a:gd name="T8" fmla="*/ 602 w 1202"/>
                  <a:gd name="T9" fmla="*/ 895 h 895"/>
                  <a:gd name="T10" fmla="*/ 0 w 1202"/>
                  <a:gd name="T11" fmla="*/ 600 h 895"/>
                  <a:gd name="T12" fmla="*/ 0 w 1202"/>
                  <a:gd name="T13" fmla="*/ 2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2" h="895">
                    <a:moveTo>
                      <a:pt x="0" y="2"/>
                    </a:moveTo>
                    <a:lnTo>
                      <a:pt x="602" y="200"/>
                    </a:lnTo>
                    <a:lnTo>
                      <a:pt x="1202" y="0"/>
                    </a:lnTo>
                    <a:lnTo>
                      <a:pt x="1202" y="600"/>
                    </a:lnTo>
                    <a:lnTo>
                      <a:pt x="602" y="895"/>
                    </a:lnTo>
                    <a:lnTo>
                      <a:pt x="0" y="600"/>
                    </a:lnTo>
                    <a:lnTo>
                      <a:pt x="0" y="2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bg1">
                    <a:lumMod val="6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PT" dirty="0"/>
              </a:p>
            </p:txBody>
          </p:sp>
          <p:sp>
            <p:nvSpPr>
              <p:cNvPr id="21" name="Forma livre 47">
                <a:extLst>
                  <a:ext uri="{FF2B5EF4-FFF2-40B4-BE49-F238E27FC236}">
                    <a16:creationId xmlns:a16="http://schemas.microsoft.com/office/drawing/2014/main" id="{1F42594E-06CD-49A9-A9A1-365B5D497C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9319" y="2553433"/>
                <a:ext cx="1861399" cy="230740"/>
              </a:xfrm>
              <a:custGeom>
                <a:avLst/>
                <a:gdLst>
                  <a:gd name="T0" fmla="*/ 0 w 1202"/>
                  <a:gd name="T1" fmla="*/ 149 h 149"/>
                  <a:gd name="T2" fmla="*/ 590 w 1202"/>
                  <a:gd name="T3" fmla="*/ 0 h 149"/>
                  <a:gd name="T4" fmla="*/ 590 w 1202"/>
                  <a:gd name="T5" fmla="*/ 0 h 149"/>
                  <a:gd name="T6" fmla="*/ 590 w 1202"/>
                  <a:gd name="T7" fmla="*/ 0 h 149"/>
                  <a:gd name="T8" fmla="*/ 1202 w 1202"/>
                  <a:gd name="T9" fmla="*/ 147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2" h="149">
                    <a:moveTo>
                      <a:pt x="0" y="149"/>
                    </a:moveTo>
                    <a:lnTo>
                      <a:pt x="590" y="0"/>
                    </a:lnTo>
                    <a:lnTo>
                      <a:pt x="590" y="0"/>
                    </a:lnTo>
                    <a:lnTo>
                      <a:pt x="590" y="0"/>
                    </a:lnTo>
                    <a:lnTo>
                      <a:pt x="1202" y="147"/>
                    </a:lnTo>
                  </a:path>
                </a:pathLst>
              </a:custGeom>
              <a:noFill/>
              <a:ln w="25400" cap="rnd">
                <a:solidFill>
                  <a:schemeClr val="bg1">
                    <a:lumMod val="65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PT" dirty="0"/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A2ABFCAA-2489-4148-8F40-6DCB7648C631}"/>
                </a:ext>
              </a:extLst>
            </p:cNvPr>
            <p:cNvGrpSpPr/>
            <p:nvPr/>
          </p:nvGrpSpPr>
          <p:grpSpPr>
            <a:xfrm>
              <a:off x="5223828" y="2873395"/>
              <a:ext cx="643681" cy="643681"/>
              <a:chOff x="5331550" y="2873395"/>
              <a:chExt cx="643681" cy="643681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AC7ED2B-27A0-4C17-AA7E-28B80EE37F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5331550" y="2873395"/>
                <a:ext cx="643681" cy="643681"/>
              </a:xfrm>
              <a:prstGeom prst="ellipse">
                <a:avLst/>
              </a:prstGeom>
              <a:solidFill>
                <a:srgbClr val="F5F5F5"/>
              </a:solidFill>
              <a:ln w="25400" cap="rnd">
                <a:solidFill>
                  <a:schemeClr val="bg1">
                    <a:lumMod val="6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PT" dirty="0"/>
              </a:p>
            </p:txBody>
          </p:sp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F79CCC39-AB2E-404C-9802-389C2D421349}"/>
                  </a:ext>
                </a:extLst>
              </p:cNvPr>
              <p:cNvGrpSpPr/>
              <p:nvPr/>
            </p:nvGrpSpPr>
            <p:grpSpPr>
              <a:xfrm>
                <a:off x="5395606" y="2945201"/>
                <a:ext cx="507758" cy="507758"/>
                <a:chOff x="5395606" y="2945201"/>
                <a:chExt cx="507758" cy="507758"/>
              </a:xfrm>
            </p:grpSpPr>
            <p:grpSp>
              <p:nvGrpSpPr>
                <p:cNvPr id="16" name="Grupo 15">
                  <a:extLst>
                    <a:ext uri="{FF2B5EF4-FFF2-40B4-BE49-F238E27FC236}">
                      <a16:creationId xmlns:a16="http://schemas.microsoft.com/office/drawing/2014/main" id="{BCCD461A-750E-4ABD-A986-A1D359309BFC}"/>
                    </a:ext>
                  </a:extLst>
                </p:cNvPr>
                <p:cNvGrpSpPr/>
                <p:nvPr/>
              </p:nvGrpSpPr>
              <p:grpSpPr>
                <a:xfrm>
                  <a:off x="5395606" y="2945201"/>
                  <a:ext cx="507758" cy="507758"/>
                  <a:chOff x="5395606" y="2945201"/>
                  <a:chExt cx="507758" cy="507758"/>
                </a:xfrm>
              </p:grpSpPr>
              <p:sp>
                <p:nvSpPr>
                  <p:cNvPr id="18" name="Arco 17">
                    <a:extLst>
                      <a:ext uri="{FF2B5EF4-FFF2-40B4-BE49-F238E27FC236}">
                        <a16:creationId xmlns:a16="http://schemas.microsoft.com/office/drawing/2014/main" id="{E5754B27-BB40-493C-8E2B-A74B872CE3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555024" y="2942077"/>
                    <a:ext cx="188922" cy="507758"/>
                  </a:xfrm>
                  <a:prstGeom prst="arc">
                    <a:avLst>
                      <a:gd name="adj1" fmla="val 4576378"/>
                      <a:gd name="adj2" fmla="val 11059966"/>
                    </a:avLst>
                  </a:prstGeom>
                  <a:noFill/>
                  <a:ln w="25400" cap="rnd">
                    <a:solidFill>
                      <a:srgbClr val="C00000"/>
                    </a:solidFill>
                    <a:prstDash val="solid"/>
                    <a:round/>
                    <a:headEnd/>
                    <a:tailEnd type="triangle" w="lg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pt-PT" dirty="0"/>
                  </a:p>
                </p:txBody>
              </p:sp>
              <p:sp>
                <p:nvSpPr>
                  <p:cNvPr id="19" name="Arco 18">
                    <a:extLst>
                      <a:ext uri="{FF2B5EF4-FFF2-40B4-BE49-F238E27FC236}">
                        <a16:creationId xmlns:a16="http://schemas.microsoft.com/office/drawing/2014/main" id="{CAE3FD76-2DD1-4238-84C7-21A1F1D7E8E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572149" y="2945201"/>
                    <a:ext cx="174922" cy="507758"/>
                  </a:xfrm>
                  <a:prstGeom prst="arc">
                    <a:avLst>
                      <a:gd name="adj1" fmla="val 15117050"/>
                      <a:gd name="adj2" fmla="val 11084764"/>
                    </a:avLst>
                  </a:prstGeom>
                  <a:noFill/>
                  <a:ln w="25400" cap="rnd">
                    <a:solidFill>
                      <a:srgbClr val="C00000"/>
                    </a:solidFill>
                    <a:prstDash val="solid"/>
                    <a:round/>
                    <a:headEnd/>
                    <a:tailEnd type="triangle" w="lg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pt-PT" dirty="0"/>
                  </a:p>
                </p:txBody>
              </p:sp>
            </p:grpSp>
            <p:sp>
              <p:nvSpPr>
                <p:cNvPr id="17" name="Arco 16">
                  <a:extLst>
                    <a:ext uri="{FF2B5EF4-FFF2-40B4-BE49-F238E27FC236}">
                      <a16:creationId xmlns:a16="http://schemas.microsoft.com/office/drawing/2014/main" id="{7DB184CB-D59B-47EA-AF3A-A8030084ED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 rot="16200000">
                  <a:off x="5555024" y="2942077"/>
                  <a:ext cx="188922" cy="507758"/>
                </a:xfrm>
                <a:prstGeom prst="arc">
                  <a:avLst>
                    <a:gd name="adj1" fmla="val 14242202"/>
                    <a:gd name="adj2" fmla="val 102366"/>
                  </a:avLst>
                </a:prstGeom>
                <a:noFill/>
                <a:ln w="25400" cap="rnd">
                  <a:solidFill>
                    <a:srgbClr val="C00000"/>
                  </a:solidFill>
                  <a:prstDash val="solid"/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/>
                </a:p>
              </p:txBody>
            </p:sp>
          </p:grpSp>
        </p:grpSp>
      </p:grpSp>
      <p:sp>
        <p:nvSpPr>
          <p:cNvPr id="7" name="Caixa de texto 3D 1">
            <a:extLst>
              <a:ext uri="{FF2B5EF4-FFF2-40B4-BE49-F238E27FC236}">
                <a16:creationId xmlns:a16="http://schemas.microsoft.com/office/drawing/2014/main" id="{793D8DEF-3B62-4E96-9D4A-0030ACE85CE5}"/>
              </a:ext>
            </a:extLst>
          </p:cNvPr>
          <p:cNvSpPr txBox="1">
            <a:spLocks/>
          </p:cNvSpPr>
          <p:nvPr/>
        </p:nvSpPr>
        <p:spPr>
          <a:xfrm>
            <a:off x="7580774" y="4638251"/>
            <a:ext cx="3785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PT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modelos 3D ajudam a promover a compreensão conceptual e o pensamento visual e espacial.</a:t>
            </a:r>
          </a:p>
        </p:txBody>
      </p:sp>
      <p:sp>
        <p:nvSpPr>
          <p:cNvPr id="8" name="Caixa de texto 3D 2">
            <a:extLst>
              <a:ext uri="{FF2B5EF4-FFF2-40B4-BE49-F238E27FC236}">
                <a16:creationId xmlns:a16="http://schemas.microsoft.com/office/drawing/2014/main" id="{B50B1AB8-F700-4516-825B-6175463CCD3C}"/>
              </a:ext>
            </a:extLst>
          </p:cNvPr>
          <p:cNvSpPr txBox="1"/>
          <p:nvPr/>
        </p:nvSpPr>
        <p:spPr>
          <a:xfrm>
            <a:off x="7580772" y="5174604"/>
            <a:ext cx="3648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rtl="0"/>
            <a:r>
              <a:rPr lang="pt-PT" dirty="0"/>
              <a:t>Os modelos 3D animados mostram objetos no espaço de forma diferente do texto e das imagens.</a:t>
            </a:r>
          </a:p>
        </p:txBody>
      </p:sp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  <p:transition spd="slow" advTm="3000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 rtlCol="0"/>
          <a:lstStyle/>
          <a:p>
            <a:pPr rtl="0"/>
            <a:r>
              <a:rPr lang="pt-PT"/>
              <a:t>Não tem um modelo 3D? Não Há Problema!</a:t>
            </a:r>
          </a:p>
        </p:txBody>
      </p:sp>
      <p:sp>
        <p:nvSpPr>
          <p:cNvPr id="2" name="Marcador de Posição de Conteúdo 1">
            <a:extLst>
              <a:ext uri="{FF2B5EF4-FFF2-40B4-BE49-F238E27FC236}">
                <a16:creationId xmlns:a16="http://schemas.microsoft.com/office/drawing/2014/main" id="{95AB49E1-195D-497A-BB31-2158958C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3" y="1507068"/>
            <a:ext cx="3009798" cy="4669896"/>
          </a:xfrm>
        </p:spPr>
        <p:txBody>
          <a:bodyPr rtlCol="0"/>
          <a:lstStyle/>
          <a:p>
            <a:pPr lvl="0" rtl="0"/>
            <a:r>
              <a:rPr lang="pt-PT"/>
              <a:t>A Microsoft facilita a inserção de um Modelo 3D!  Aceda à secção Inserir no Friso e clique na opção Modelos 3D.  Selecione a galeria de origens online (opções apresentadas à direita).  Selecione o modelo que pretende inserir.</a:t>
            </a:r>
          </a:p>
          <a:p>
            <a:pPr lvl="0" rtl="0"/>
            <a:r>
              <a:rPr lang="pt-PT"/>
              <a:t>Os modelos 3D só estão disponíveis para subscritores. Se tiver uma subscrição, o próximo diapositivo mostra como funciona numa nova apresentação.</a:t>
            </a:r>
          </a:p>
        </p:txBody>
      </p:sp>
      <p:pic>
        <p:nvPicPr>
          <p:cNvPr id="6" name="Marcador de Posição de Conteúdo 5" descr="Captura de ecrã de um modelo 3D pop-up">
            <a:extLst>
              <a:ext uri="{FF2B5EF4-FFF2-40B4-BE49-F238E27FC236}">
                <a16:creationId xmlns:a16="http://schemas.microsoft.com/office/drawing/2014/main" id="{18FD11A5-B038-4E80-B474-B4B2F833E6B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rcRect/>
          <a:stretch/>
        </p:blipFill>
        <p:spPr>
          <a:xfrm>
            <a:off x="4395788" y="1991738"/>
            <a:ext cx="7143749" cy="370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3801"/>
      </p:ext>
    </p:extLst>
  </p:cSld>
  <p:clrMapOvr>
    <a:masterClrMapping/>
  </p:clrMapOvr>
  <p:transition spd="slow" advTm="3000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Como Inserir um Modelo 3D</a:t>
            </a:r>
          </a:p>
        </p:txBody>
      </p:sp>
      <p:sp>
        <p:nvSpPr>
          <p:cNvPr id="2" name="Marcador de Posição de Conteúdo 1">
            <a:extLst>
              <a:ext uri="{FF2B5EF4-FFF2-40B4-BE49-F238E27FC236}">
                <a16:creationId xmlns:a16="http://schemas.microsoft.com/office/drawing/2014/main" id="{0E85CDB0-AD30-4DBB-AC55-D824F09CE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4" y="1604210"/>
            <a:ext cx="5089356" cy="4805161"/>
          </a:xfrm>
        </p:spPr>
        <p:txBody>
          <a:bodyPr rtlCol="0">
            <a:normAutofit/>
          </a:bodyPr>
          <a:lstStyle/>
          <a:p>
            <a:pPr rtl="0"/>
            <a:r>
              <a:rPr lang="pt-PT"/>
              <a:t>Para Inserir um Modelo 3D:</a:t>
            </a:r>
          </a:p>
          <a:p>
            <a:pPr marL="457200" lvl="1" indent="-47625" rtl="0">
              <a:lnSpc>
                <a:spcPts val="1800"/>
              </a:lnSpc>
            </a:pPr>
            <a:r>
              <a:rPr lang="pt-PT"/>
              <a:t>A partir do Friso, aceda a</a:t>
            </a:r>
            <a:br>
              <a:rPr lang="pt-PT"/>
            </a:b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Inserir</a:t>
            </a:r>
            <a:r>
              <a:rPr lang="pt-PT"/>
              <a:t> &gt;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Modelos 3D </a:t>
            </a:r>
            <a:br>
              <a:rPr lang="pt-PT"/>
            </a:br>
            <a:r>
              <a:rPr lang="pt-PT"/>
              <a:t>-ou- </a:t>
            </a:r>
            <a:br>
              <a:rPr lang="pt-PT"/>
            </a:b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Inserir</a:t>
            </a:r>
            <a:r>
              <a:rPr lang="pt-PT"/>
              <a:t> &gt;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Modelos</a:t>
            </a:r>
            <a:r>
              <a:rPr lang="pt-PT"/>
              <a:t>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3D</a:t>
            </a:r>
            <a:r>
              <a:rPr lang="pt-PT"/>
              <a:t>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 Origens Online</a:t>
            </a:r>
            <a:br>
              <a:rPr lang="pt-PT"/>
            </a:br>
            <a:br>
              <a:rPr lang="pt-PT"/>
            </a:br>
            <a:r>
              <a:rPr lang="pt-PT"/>
              <a:t>Isto irá abrir a janela Modelos 3D Online, onde pode procurar ou explorar categorias de vários modelos 3D através do PowerPoint.</a:t>
            </a:r>
          </a:p>
          <a:p>
            <a:pPr marL="457200" lvl="1" indent="-47625" rtl="0">
              <a:lnSpc>
                <a:spcPts val="1800"/>
              </a:lnSpc>
            </a:pP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Sugestão: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 de estar online quando adicionar a modelo.</a:t>
            </a:r>
            <a:endParaRPr lang="pt-PT"/>
          </a:p>
          <a:p>
            <a:pPr marL="457200" lvl="1" indent="-47625" rtl="0">
              <a:lnSpc>
                <a:spcPts val="1800"/>
              </a:lnSpc>
            </a:pPr>
            <a:r>
              <a:rPr lang="pt-PT"/>
              <a:t>Para procurar uma palavra-chave,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escreva uma palavra </a:t>
            </a:r>
            <a:r>
              <a:rPr lang="pt-PT"/>
              <a:t> ou uma expressão na caixa de pesquisa, na parte superior da janela, e prima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Enter</a:t>
            </a:r>
            <a:r>
              <a:rPr lang="pt-PT"/>
              <a:t>.</a:t>
            </a:r>
            <a:br>
              <a:rPr lang="pt-PT"/>
            </a:br>
            <a:endParaRPr lang="pt-PT"/>
          </a:p>
          <a:p>
            <a:pPr marL="457200" lvl="1" indent="-47625" rtl="0"/>
            <a:r>
              <a:rPr lang="pt-PT"/>
              <a:t>Para inserir um Modelo 3D,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clique</a:t>
            </a:r>
            <a:r>
              <a:rPr lang="pt-PT"/>
              <a:t> ou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toque</a:t>
            </a:r>
            <a:r>
              <a:rPr lang="pt-PT"/>
              <a:t> no modelo &gt;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Inserir</a:t>
            </a:r>
            <a:r>
              <a:rPr lang="pt-PT"/>
              <a:t>.</a:t>
            </a:r>
          </a:p>
          <a:p>
            <a:pPr marL="457200" lvl="1" indent="-47625" rtl="0">
              <a:lnSpc>
                <a:spcPts val="1800"/>
              </a:lnSpc>
            </a:pPr>
            <a:r>
              <a:rPr lang="pt-PT"/>
              <a:t>O Modelo 3D será transferido e colocado no seu diapositivo do PowerPoint.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572B26-98AF-4AA8-9A0F-435FBBFB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604200" y="1985729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PT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51FC095-7AF2-4B5E-A691-FF792B5B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15429" y="3838609"/>
            <a:ext cx="187380" cy="278885"/>
            <a:chOff x="5052041" y="3023897"/>
            <a:chExt cx="1009650" cy="1502702"/>
          </a:xfrm>
        </p:grpSpPr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6B894430-AD6A-4951-BB8A-4C66BE674C0B}"/>
                </a:ext>
              </a:extLst>
            </p:cNvPr>
            <p:cNvSpPr/>
            <p:nvPr/>
          </p:nvSpPr>
          <p:spPr>
            <a:xfrm>
              <a:off x="5052041" y="3023897"/>
              <a:ext cx="1009650" cy="1295400"/>
            </a:xfrm>
            <a:custGeom>
              <a:avLst/>
              <a:gdLst>
                <a:gd name="connsiteX0" fmla="*/ 684848 w 1009650"/>
                <a:gd name="connsiteY0" fmla="*/ 1231583 h 1295400"/>
                <a:gd name="connsiteX1" fmla="*/ 329565 w 1009650"/>
                <a:gd name="connsiteY1" fmla="*/ 1231583 h 1295400"/>
                <a:gd name="connsiteX2" fmla="*/ 328613 w 1009650"/>
                <a:gd name="connsiteY2" fmla="*/ 1056323 h 1295400"/>
                <a:gd name="connsiteX3" fmla="*/ 71438 w 1009650"/>
                <a:gd name="connsiteY3" fmla="*/ 504825 h 1295400"/>
                <a:gd name="connsiteX4" fmla="*/ 504825 w 1009650"/>
                <a:gd name="connsiteY4" fmla="*/ 71438 h 1295400"/>
                <a:gd name="connsiteX5" fmla="*/ 508635 w 1009650"/>
                <a:gd name="connsiteY5" fmla="*/ 71438 h 1295400"/>
                <a:gd name="connsiteX6" fmla="*/ 942023 w 1009650"/>
                <a:gd name="connsiteY6" fmla="*/ 504825 h 1295400"/>
                <a:gd name="connsiteX7" fmla="*/ 684848 w 1009650"/>
                <a:gd name="connsiteY7" fmla="*/ 1055370 h 1295400"/>
                <a:gd name="connsiteX8" fmla="*/ 684848 w 1009650"/>
                <a:gd name="connsiteY8" fmla="*/ 1231583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9650" h="1295400">
                  <a:moveTo>
                    <a:pt x="684848" y="1231583"/>
                  </a:moveTo>
                  <a:lnTo>
                    <a:pt x="329565" y="1231583"/>
                  </a:lnTo>
                  <a:lnTo>
                    <a:pt x="328613" y="1056323"/>
                  </a:lnTo>
                  <a:cubicBezTo>
                    <a:pt x="328613" y="816293"/>
                    <a:pt x="71438" y="744855"/>
                    <a:pt x="71438" y="504825"/>
                  </a:cubicBezTo>
                  <a:cubicBezTo>
                    <a:pt x="71438" y="264795"/>
                    <a:pt x="265748" y="71438"/>
                    <a:pt x="504825" y="71438"/>
                  </a:cubicBezTo>
                  <a:lnTo>
                    <a:pt x="508635" y="71438"/>
                  </a:lnTo>
                  <a:cubicBezTo>
                    <a:pt x="748665" y="71438"/>
                    <a:pt x="942023" y="265748"/>
                    <a:pt x="942023" y="504825"/>
                  </a:cubicBezTo>
                  <a:cubicBezTo>
                    <a:pt x="942023" y="743903"/>
                    <a:pt x="684848" y="816293"/>
                    <a:pt x="684848" y="1055370"/>
                  </a:cubicBezTo>
                  <a:lnTo>
                    <a:pt x="684848" y="1231583"/>
                  </a:lnTo>
                  <a:close/>
                </a:path>
              </a:pathLst>
            </a:custGeom>
            <a:noFill/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PT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6E7DD3E4-24F0-4493-9F21-04685133F0EA}"/>
                </a:ext>
              </a:extLst>
            </p:cNvPr>
            <p:cNvSpPr/>
            <p:nvPr/>
          </p:nvSpPr>
          <p:spPr>
            <a:xfrm>
              <a:off x="5366365" y="4383724"/>
              <a:ext cx="381000" cy="142875"/>
            </a:xfrm>
            <a:custGeom>
              <a:avLst/>
              <a:gdLst>
                <a:gd name="connsiteX0" fmla="*/ 71438 w 381000"/>
                <a:gd name="connsiteY0" fmla="*/ 71437 h 142875"/>
                <a:gd name="connsiteX1" fmla="*/ 313373 w 381000"/>
                <a:gd name="connsiteY1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00" h="142875">
                  <a:moveTo>
                    <a:pt x="71438" y="71437"/>
                  </a:moveTo>
                  <a:lnTo>
                    <a:pt x="313373" y="71437"/>
                  </a:lnTo>
                </a:path>
              </a:pathLst>
            </a:custGeom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PT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0579BFBD-1795-4967-8112-196AA0A32CA3}"/>
                </a:ext>
              </a:extLst>
            </p:cNvPr>
            <p:cNvSpPr/>
            <p:nvPr/>
          </p:nvSpPr>
          <p:spPr>
            <a:xfrm>
              <a:off x="5310168" y="3958952"/>
              <a:ext cx="495301" cy="142874"/>
            </a:xfrm>
            <a:custGeom>
              <a:avLst/>
              <a:gdLst>
                <a:gd name="connsiteX0" fmla="*/ 71437 w 495300"/>
                <a:gd name="connsiteY0" fmla="*/ 71438 h 142875"/>
                <a:gd name="connsiteX1" fmla="*/ 426720 w 495300"/>
                <a:gd name="connsiteY1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300" h="142875">
                  <a:moveTo>
                    <a:pt x="71437" y="71438"/>
                  </a:moveTo>
                  <a:lnTo>
                    <a:pt x="426720" y="71438"/>
                  </a:lnTo>
                </a:path>
              </a:pathLst>
            </a:custGeom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PT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C851C4E8-1EC2-4782-B31A-6F082712F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604200" y="4338995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PT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D3B53A-9E90-4B19-BA5D-E8F4971E2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604200" y="5357489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PT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</a:t>
            </a:r>
          </a:p>
        </p:txBody>
      </p:sp>
      <p:pic>
        <p:nvPicPr>
          <p:cNvPr id="12" name="Imagem 11" descr="Captura de ecrã do menu de opções">
            <a:extLst>
              <a:ext uri="{FF2B5EF4-FFF2-40B4-BE49-F238E27FC236}">
                <a16:creationId xmlns:a16="http://schemas.microsoft.com/office/drawing/2014/main" id="{34285680-A638-4BD7-B2C9-C8766AB4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17068" y="1389262"/>
            <a:ext cx="6631900" cy="221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  <p:transition spd="slow" advTm="3000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EE622-B204-4BAA-A73B-2ED70B23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>
                <a:solidFill>
                  <a:srgbClr val="E7E6E6">
                    <a:lumMod val="25000"/>
                  </a:srgb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Tem o Seu Próprio Modelo 3D? Pode Importá-lo!</a:t>
            </a:r>
            <a:endParaRPr lang="pt-PT"/>
          </a:p>
        </p:txBody>
      </p:sp>
      <p:sp>
        <p:nvSpPr>
          <p:cNvPr id="6" name="Marcador de Posição de Conteúdo 7" descr="O PowerPoint permite-lhe importar vários formatos populares de modelos 3D. &#10;Independentemente dos seus fluxos de trabalho fora do PowerPoint, deverá conseguir encontrar uma solução adequada para tornar os seus modelos 3D portáteis e apresentáveis para todas as pessoas, em qualquer lugar e em qualquer dispositivo (com apenas algumas modificações rápidas)">
            <a:extLst>
              <a:ext uri="{FF2B5EF4-FFF2-40B4-BE49-F238E27FC236}">
                <a16:creationId xmlns:a16="http://schemas.microsoft.com/office/drawing/2014/main" id="{9908A373-FC7C-4282-8736-3682F263411C}"/>
              </a:ext>
            </a:extLst>
          </p:cNvPr>
          <p:cNvSpPr txBox="1">
            <a:spLocks/>
          </p:cNvSpPr>
          <p:nvPr/>
        </p:nvSpPr>
        <p:spPr>
          <a:xfrm>
            <a:off x="533459" y="1485933"/>
            <a:ext cx="4512975" cy="19113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ts val="1800"/>
              </a:lnSpc>
              <a:spcAft>
                <a:spcPts val="600"/>
              </a:spcAft>
              <a:buNone/>
            </a:pPr>
            <a:r>
              <a:rPr lang="pt-PT" sz="12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PowerPoint permite-lhe importar vários formatos populares de modelos 3D. </a:t>
            </a:r>
          </a:p>
          <a:p>
            <a:pPr marL="0" indent="0" rtl="0">
              <a:lnSpc>
                <a:spcPts val="1800"/>
              </a:lnSpc>
              <a:spcAft>
                <a:spcPts val="600"/>
              </a:spcAft>
              <a:buNone/>
            </a:pPr>
            <a:r>
              <a:rPr lang="pt-PT" sz="12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Independentemente dos seus fluxos de trabalho fora do PowerPoint, deverá conseguir encontrar uma solução adequada para tornar os seus modelos 3D portáteis e apresentáveis para todas as pessoas, em qualquer lugar e em qualquer dispositivo (com apenas algumas modificações rápidas)</a:t>
            </a:r>
          </a:p>
        </p:txBody>
      </p:sp>
      <p:sp>
        <p:nvSpPr>
          <p:cNvPr id="11" name="Instruções">
            <a:extLst>
              <a:ext uri="{FF2B5EF4-FFF2-40B4-BE49-F238E27FC236}">
                <a16:creationId xmlns:a16="http://schemas.microsoft.com/office/drawing/2014/main" id="{1AF2FBBE-B7D3-452C-9253-F7C472312B69}"/>
              </a:ext>
            </a:extLst>
          </p:cNvPr>
          <p:cNvSpPr txBox="1">
            <a:spLocks/>
          </p:cNvSpPr>
          <p:nvPr/>
        </p:nvSpPr>
        <p:spPr>
          <a:xfrm>
            <a:off x="474516" y="3651363"/>
            <a:ext cx="2175299" cy="299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Para Inserir um Modelo 3D:</a:t>
            </a:r>
          </a:p>
        </p:txBody>
      </p:sp>
      <p:sp>
        <p:nvSpPr>
          <p:cNvPr id="9" name="Número 1" descr="Número 1">
            <a:extLst>
              <a:ext uri="{FF2B5EF4-FFF2-40B4-BE49-F238E27FC236}">
                <a16:creationId xmlns:a16="http://schemas.microsoft.com/office/drawing/2014/main" id="{60C7D78B-18F1-458F-AF3B-1293CFF9F517}"/>
              </a:ext>
            </a:extLst>
          </p:cNvPr>
          <p:cNvSpPr/>
          <p:nvPr/>
        </p:nvSpPr>
        <p:spPr bwMode="blackWhite">
          <a:xfrm>
            <a:off x="546159" y="4067641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PT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10" name="Passo 1">
            <a:extLst>
              <a:ext uri="{FF2B5EF4-FFF2-40B4-BE49-F238E27FC236}">
                <a16:creationId xmlns:a16="http://schemas.microsoft.com/office/drawing/2014/main" id="{42184CEA-CF4E-4D47-96E0-8F669A14DC71}"/>
              </a:ext>
            </a:extLst>
          </p:cNvPr>
          <p:cNvSpPr txBox="1">
            <a:spLocks/>
          </p:cNvSpPr>
          <p:nvPr/>
        </p:nvSpPr>
        <p:spPr>
          <a:xfrm>
            <a:off x="999477" y="4097315"/>
            <a:ext cx="3671989" cy="12141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0"/>
              </a:spcAft>
              <a:buNone/>
              <a:defRPr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Aceda a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Inserir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Modelos 3D de um Ficheiro…</a:t>
            </a:r>
            <a:endParaRPr lang="pt-PT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rtl="0">
              <a:spcAft>
                <a:spcPts val="0"/>
              </a:spcAft>
              <a:buNone/>
              <a:defRPr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Isto irá abrir a janela Inserir Modelo 3D, onde pode procurar qualquer modelo 3D guardado no seu computador, rede ou unidade da nuvem.</a:t>
            </a:r>
            <a:b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PT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Número 2" descr="Número 2">
            <a:extLst>
              <a:ext uri="{FF2B5EF4-FFF2-40B4-BE49-F238E27FC236}">
                <a16:creationId xmlns:a16="http://schemas.microsoft.com/office/drawing/2014/main" id="{95D049CF-C399-43F8-9E11-8273E7ED2B3D}"/>
              </a:ext>
            </a:extLst>
          </p:cNvPr>
          <p:cNvSpPr/>
          <p:nvPr/>
        </p:nvSpPr>
        <p:spPr bwMode="blackWhite">
          <a:xfrm>
            <a:off x="4820987" y="4067641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PT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</a:p>
        </p:txBody>
      </p:sp>
      <p:grpSp>
        <p:nvGrpSpPr>
          <p:cNvPr id="17" name="Grupo 16" descr="Captura de ecrã da opção de menu">
            <a:extLst>
              <a:ext uri="{FF2B5EF4-FFF2-40B4-BE49-F238E27FC236}">
                <a16:creationId xmlns:a16="http://schemas.microsoft.com/office/drawing/2014/main" id="{53919CC3-3EF3-409A-B4EF-D88539BFE0CB}"/>
              </a:ext>
            </a:extLst>
          </p:cNvPr>
          <p:cNvGrpSpPr/>
          <p:nvPr/>
        </p:nvGrpSpPr>
        <p:grpSpPr>
          <a:xfrm>
            <a:off x="5268629" y="1354086"/>
            <a:ext cx="6393944" cy="3075813"/>
            <a:chOff x="5268629" y="1354086"/>
            <a:chExt cx="6393944" cy="3075813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6E41D473-73BD-403B-8CC7-EDE9320AD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38675" y="1518115"/>
              <a:ext cx="5721170" cy="1866468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ffectLst>
              <a:outerShdw blurRad="1270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20747CAC-F3CB-4212-A786-9FB8FC4E1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68629" y="2868230"/>
              <a:ext cx="6318174" cy="640080"/>
            </a:xfrm>
            <a:prstGeom prst="rect">
              <a:avLst/>
            </a:prstGeom>
            <a:gradFill flip="none" rotWithShape="1">
              <a:gsLst>
                <a:gs pos="0">
                  <a:srgbClr val="F5F5F5">
                    <a:alpha val="0"/>
                  </a:srgbClr>
                </a:gs>
                <a:gs pos="100000">
                  <a:srgbClr val="F5F5F5"/>
                </a:gs>
                <a:gs pos="43000">
                  <a:srgbClr val="F5F5F5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pic>
          <p:nvPicPr>
            <p:cNvPr id="5" name="Separador Inserir" descr="Captura de ecrã do separador Inserir do PowerPoint com o menu de botões Modelos 3D aberto e a opção De um Ficheiro selecionada. A opção &quot;Todos os Modelos 3D&quot; está selecionada a partir da janela Guardar Como.">
              <a:extLst>
                <a:ext uri="{FF2B5EF4-FFF2-40B4-BE49-F238E27FC236}">
                  <a16:creationId xmlns:a16="http://schemas.microsoft.com/office/drawing/2014/main" id="{424B1EB4-F31C-4594-8AF7-78D76E32C283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-378" b="1274"/>
            <a:stretch/>
          </p:blipFill>
          <p:spPr>
            <a:xfrm>
              <a:off x="5640159" y="1491481"/>
              <a:ext cx="5724449" cy="2520865"/>
            </a:xfrm>
            <a:prstGeom prst="rect">
              <a:avLst/>
            </a:prstGeom>
          </p:spPr>
        </p:pic>
        <p:sp>
          <p:nvSpPr>
            <p:cNvPr id="13" name="Oval 12" hidden="1">
              <a:extLst>
                <a:ext uri="{FF2B5EF4-FFF2-40B4-BE49-F238E27FC236}">
                  <a16:creationId xmlns:a16="http://schemas.microsoft.com/office/drawing/2014/main" id="{7E5E67BD-7A9A-4F78-A092-09BD18525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8893994" y="2152821"/>
              <a:ext cx="1498544" cy="1498542"/>
            </a:xfrm>
            <a:prstGeom prst="ellipse">
              <a:avLst/>
            </a:prstGeom>
            <a:noFill/>
            <a:ln w="101600">
              <a:solidFill>
                <a:schemeClr val="tx1">
                  <a:alpha val="2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pic>
          <p:nvPicPr>
            <p:cNvPr id="14" name="Imagem 13" hidden="1">
              <a:extLst>
                <a:ext uri="{FF2B5EF4-FFF2-40B4-BE49-F238E27FC236}">
                  <a16:creationId xmlns:a16="http://schemas.microsoft.com/office/drawing/2014/main" id="{0AB45D60-ED4A-46EC-AD0C-17D488072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956278" y="2215103"/>
              <a:ext cx="1373977" cy="137397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  <a:effectLst/>
          </p:spPr>
        </p:pic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DA5D818A-6772-4140-9BA1-3E5C4AC85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10017084" y="1839905"/>
              <a:ext cx="1866468" cy="894830"/>
            </a:xfrm>
            <a:prstGeom prst="rect">
              <a:avLst/>
            </a:prstGeom>
            <a:gradFill flip="none" rotWithShape="1">
              <a:gsLst>
                <a:gs pos="0">
                  <a:srgbClr val="F5F5F5">
                    <a:alpha val="0"/>
                  </a:srgbClr>
                </a:gs>
                <a:gs pos="100000">
                  <a:srgbClr val="F5F5F5"/>
                </a:gs>
                <a:gs pos="58000">
                  <a:srgbClr val="F5F5F5">
                    <a:alpha val="86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 b="1"/>
            </a:p>
          </p:txBody>
        </p:sp>
        <p:pic>
          <p:nvPicPr>
            <p:cNvPr id="16" name="Imagem 15" hidden="1">
              <a:extLst>
                <a:ext uri="{FF2B5EF4-FFF2-40B4-BE49-F238E27FC236}">
                  <a16:creationId xmlns:a16="http://schemas.microsoft.com/office/drawing/2014/main" id="{9B393259-4463-453C-AAC3-C1FCC92B3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34002" y="2925137"/>
              <a:ext cx="2628571" cy="1504762"/>
            </a:xfrm>
            <a:prstGeom prst="rect">
              <a:avLst/>
            </a:prstGeom>
          </p:spPr>
        </p:pic>
      </p:grpSp>
      <p:sp>
        <p:nvSpPr>
          <p:cNvPr id="8" name="Passo 2" descr="Insira o modelo 3D ao selecionar o ficheiro e clicar em Inserir.&#10;O modelo 3D será colocado no seu diapositivo do PowerPoint">
            <a:extLst>
              <a:ext uri="{FF2B5EF4-FFF2-40B4-BE49-F238E27FC236}">
                <a16:creationId xmlns:a16="http://schemas.microsoft.com/office/drawing/2014/main" id="{6505E4CF-C408-4CF2-86B6-BD142EBF6F92}"/>
              </a:ext>
            </a:extLst>
          </p:cNvPr>
          <p:cNvSpPr txBox="1">
            <a:spLocks/>
          </p:cNvSpPr>
          <p:nvPr/>
        </p:nvSpPr>
        <p:spPr>
          <a:xfrm>
            <a:off x="5274554" y="4097315"/>
            <a:ext cx="3671989" cy="1214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0"/>
              </a:spcAft>
              <a:buNone/>
              <a:defRPr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Insira o modelo 3D ao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selecionar o ficheiro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clicar em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Inserir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.</a:t>
            </a:r>
          </a:p>
          <a:p>
            <a:pPr marL="0" indent="0" rtl="0">
              <a:spcAft>
                <a:spcPts val="0"/>
              </a:spcAft>
              <a:buNone/>
              <a:defRPr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modelo 3D será colocado no seu diapositivo do PowerPoint</a:t>
            </a:r>
            <a:endParaRPr lang="pt-PT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65633859"/>
      </p:ext>
    </p:extLst>
  </p:cSld>
  <p:clrMapOvr>
    <a:masterClrMapping/>
  </p:clrMapOvr>
  <p:transition spd="slow" advTm="3000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ED516-A0B4-4D09-B6A3-A788188B6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dirty="0"/>
              <a:t>Duas Formas de Posicionar e Rodar o Seu Modelo 3D</a:t>
            </a:r>
          </a:p>
        </p:txBody>
      </p:sp>
      <p:sp>
        <p:nvSpPr>
          <p:cNvPr id="11" name="Marcador de Posição de Conteúdo 17" descr="Experimente com o papagaio à direita:">
            <a:extLst>
              <a:ext uri="{FF2B5EF4-FFF2-40B4-BE49-F238E27FC236}">
                <a16:creationId xmlns:a16="http://schemas.microsoft.com/office/drawing/2014/main" id="{AF2B300A-3A97-40E0-AA9A-37A944B1DAF8}"/>
              </a:ext>
            </a:extLst>
          </p:cNvPr>
          <p:cNvSpPr txBox="1">
            <a:spLocks/>
          </p:cNvSpPr>
          <p:nvPr/>
        </p:nvSpPr>
        <p:spPr>
          <a:xfrm>
            <a:off x="630366" y="1431342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 dirty="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Experimente com o papagaio à direita:</a:t>
            </a:r>
          </a:p>
        </p:txBody>
      </p:sp>
      <p:sp>
        <p:nvSpPr>
          <p:cNvPr id="12" name="Número 1" descr="Método 1">
            <a:extLst>
              <a:ext uri="{FF2B5EF4-FFF2-40B4-BE49-F238E27FC236}">
                <a16:creationId xmlns:a16="http://schemas.microsoft.com/office/drawing/2014/main" id="{56816014-A74F-4DCC-B3EB-C797CAF4E802}"/>
              </a:ext>
            </a:extLst>
          </p:cNvPr>
          <p:cNvSpPr/>
          <p:nvPr/>
        </p:nvSpPr>
        <p:spPr bwMode="blackWhite">
          <a:xfrm>
            <a:off x="630366" y="1917997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PT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13" name="Passo 1 Texto" descr="Clique no seu Modelo 3D: Clique e mantenha premido o controlo 3D para rodar ou inclinar o seu modelo 3D para cima, para baixo, para a esquerda e para a direita.">
            <a:extLst>
              <a:ext uri="{FF2B5EF4-FFF2-40B4-BE49-F238E27FC236}">
                <a16:creationId xmlns:a16="http://schemas.microsoft.com/office/drawing/2014/main" id="{5294FC26-E2BF-454F-B123-404EA194A3E3}"/>
              </a:ext>
            </a:extLst>
          </p:cNvPr>
          <p:cNvSpPr txBox="1">
            <a:spLocks/>
          </p:cNvSpPr>
          <p:nvPr/>
        </p:nvSpPr>
        <p:spPr>
          <a:xfrm>
            <a:off x="1066038" y="1958188"/>
            <a:ext cx="2765639" cy="1428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Clique no seu Modelo 3D: </a:t>
            </a:r>
            <a:r>
              <a:rPr lang="pt-PT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Clique e mantenha premido</a:t>
            </a:r>
            <a:r>
              <a:rPr lang="pt-PT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 controlo 3D para rodar ou inclinar o seu modelo 3D para cima, para baixo, para a esquerda e para a direita.</a:t>
            </a:r>
          </a:p>
        </p:txBody>
      </p:sp>
      <p:grpSp>
        <p:nvGrpSpPr>
          <p:cNvPr id="36" name="Grupo de Imagens de Controlo 3D" descr="Grande plano do Controlo 3D">
            <a:extLst>
              <a:ext uri="{FF2B5EF4-FFF2-40B4-BE49-F238E27FC236}">
                <a16:creationId xmlns:a16="http://schemas.microsoft.com/office/drawing/2014/main" id="{25679F3D-7EC6-46A6-BC22-525E813580BB}"/>
              </a:ext>
            </a:extLst>
          </p:cNvPr>
          <p:cNvGrpSpPr/>
          <p:nvPr/>
        </p:nvGrpSpPr>
        <p:grpSpPr>
          <a:xfrm>
            <a:off x="3704939" y="1697308"/>
            <a:ext cx="2454520" cy="1689408"/>
            <a:chOff x="3704939" y="1697308"/>
            <a:chExt cx="2454520" cy="1689408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8F80BCD5-FD01-46B5-B455-200FE0512D5D}"/>
                </a:ext>
              </a:extLst>
            </p:cNvPr>
            <p:cNvGrpSpPr/>
            <p:nvPr/>
          </p:nvGrpSpPr>
          <p:grpSpPr>
            <a:xfrm>
              <a:off x="3704939" y="1697308"/>
              <a:ext cx="2454520" cy="1689408"/>
              <a:chOff x="3712735" y="1697308"/>
              <a:chExt cx="2454520" cy="1689408"/>
            </a:xfrm>
          </p:grpSpPr>
          <p:pic>
            <p:nvPicPr>
              <p:cNvPr id="18" name="Imagem 17">
                <a:extLst>
                  <a:ext uri="{FF2B5EF4-FFF2-40B4-BE49-F238E27FC236}">
                    <a16:creationId xmlns:a16="http://schemas.microsoft.com/office/drawing/2014/main" id="{83BEC2FA-40A3-4712-AFFA-9D14591AC1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-8188"/>
              <a:stretch/>
            </p:blipFill>
            <p:spPr>
              <a:xfrm>
                <a:off x="4619010" y="1838716"/>
                <a:ext cx="1548245" cy="1548000"/>
              </a:xfrm>
              <a:prstGeom prst="ellipse">
                <a:avLst/>
              </a:prstGeom>
              <a:solidFill>
                <a:srgbClr val="F5F5F5"/>
              </a:solidFill>
              <a:ln w="25400">
                <a:solidFill>
                  <a:schemeClr val="bg1"/>
                </a:solidFill>
              </a:ln>
              <a:effectLst>
                <a:outerShdw blurRad="190500" dist="38100" dir="13500000" algn="br" rotWithShape="0">
                  <a:prstClr val="black">
                    <a:alpha val="15000"/>
                  </a:prstClr>
                </a:outerShdw>
              </a:effectLst>
            </p:spPr>
          </p:pic>
          <p:grpSp>
            <p:nvGrpSpPr>
              <p:cNvPr id="19" name="Grupo 18">
                <a:extLst>
                  <a:ext uri="{FF2B5EF4-FFF2-40B4-BE49-F238E27FC236}">
                    <a16:creationId xmlns:a16="http://schemas.microsoft.com/office/drawing/2014/main" id="{C52F9595-6E5D-47EA-8164-ED5193FFED79}"/>
                  </a:ext>
                </a:extLst>
              </p:cNvPr>
              <p:cNvGrpSpPr/>
              <p:nvPr/>
            </p:nvGrpSpPr>
            <p:grpSpPr>
              <a:xfrm>
                <a:off x="3712735" y="1697308"/>
                <a:ext cx="1265464" cy="1318408"/>
                <a:chOff x="3712735" y="1697308"/>
                <a:chExt cx="1265464" cy="1318408"/>
              </a:xfrm>
            </p:grpSpPr>
            <p:sp>
              <p:nvSpPr>
                <p:cNvPr id="20" name="Caixa de texto 19">
                  <a:extLst>
                    <a:ext uri="{FF2B5EF4-FFF2-40B4-BE49-F238E27FC236}">
                      <a16:creationId xmlns:a16="http://schemas.microsoft.com/office/drawing/2014/main" id="{6148F9CD-D431-4BD4-853D-9C8B9B7C0AD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 txBox="1"/>
                <p:nvPr/>
              </p:nvSpPr>
              <p:spPr>
                <a:xfrm>
                  <a:off x="3712735" y="2754106"/>
                  <a:ext cx="96853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rtl="0"/>
                  <a:r>
                    <a:rPr lang="pt-PT" sz="11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Controlo 3D</a:t>
                  </a:r>
                </a:p>
              </p:txBody>
            </p:sp>
            <p:grpSp>
              <p:nvGrpSpPr>
                <p:cNvPr id="21" name="Grupo 20">
                  <a:extLst>
                    <a:ext uri="{FF2B5EF4-FFF2-40B4-BE49-F238E27FC236}">
                      <a16:creationId xmlns:a16="http://schemas.microsoft.com/office/drawing/2014/main" id="{F14880AB-65DA-416A-B5B2-51D9F346B20F}"/>
                    </a:ext>
                  </a:extLst>
                </p:cNvPr>
                <p:cNvGrpSpPr/>
                <p:nvPr/>
              </p:nvGrpSpPr>
              <p:grpSpPr>
                <a:xfrm>
                  <a:off x="3988016" y="1697308"/>
                  <a:ext cx="990183" cy="990182"/>
                  <a:chOff x="3913220" y="1693155"/>
                  <a:chExt cx="871067" cy="871066"/>
                </a:xfrm>
              </p:grpSpPr>
              <p:grpSp>
                <p:nvGrpSpPr>
                  <p:cNvPr id="22" name="Grupo 21">
                    <a:extLst>
                      <a:ext uri="{FF2B5EF4-FFF2-40B4-BE49-F238E27FC236}">
                        <a16:creationId xmlns:a16="http://schemas.microsoft.com/office/drawing/2014/main" id="{E84E379F-3B8E-4B61-9F07-8607534910CB}"/>
                      </a:ext>
                    </a:extLst>
                  </p:cNvPr>
                  <p:cNvGrpSpPr/>
                  <p:nvPr/>
                </p:nvGrpSpPr>
                <p:grpSpPr>
                  <a:xfrm>
                    <a:off x="3913220" y="1693155"/>
                    <a:ext cx="871067" cy="871066"/>
                    <a:chOff x="4167658" y="3457039"/>
                    <a:chExt cx="1498544" cy="1498542"/>
                  </a:xfrm>
                </p:grpSpPr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B4D8FF61-B8D7-4F52-8165-C133E2DF0E1F}"/>
                        </a:ext>
                        <a:ext uri="{C183D7F6-B498-43B3-948B-1728B52AA6E4}">
                          <adec:decorative xmlns:adec="http://schemas.microsoft.com/office/drawing/2017/decorative" val="1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167658" y="3457039"/>
                      <a:ext cx="1498544" cy="1498542"/>
                    </a:xfrm>
                    <a:prstGeom prst="ellipse">
                      <a:avLst/>
                    </a:prstGeom>
                    <a:noFill/>
                    <a:ln w="101600">
                      <a:solidFill>
                        <a:schemeClr val="tx1">
                          <a:alpha val="20000"/>
                        </a:schemeClr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rtl="0"/>
                      <a:endParaRPr lang="pt-PT" dirty="0"/>
                    </a:p>
                  </p:txBody>
                </p:sp>
                <p:sp>
                  <p:nvSpPr>
                    <p:cNvPr id="29" name="Oval 28">
                      <a:extLst>
                        <a:ext uri="{FF2B5EF4-FFF2-40B4-BE49-F238E27FC236}">
                          <a16:creationId xmlns:a16="http://schemas.microsoft.com/office/drawing/2014/main" id="{7E154C01-63E9-445A-ACB8-73C090B982B6}"/>
                        </a:ext>
                        <a:ext uri="{C183D7F6-B498-43B3-948B-1728B52AA6E4}">
                          <adec:decorative xmlns:adec="http://schemas.microsoft.com/office/drawing/2017/decorative" val="1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229941" y="3519322"/>
                      <a:ext cx="1373977" cy="1373977"/>
                    </a:xfrm>
                    <a:prstGeom prst="ellipse">
                      <a:avLst/>
                    </a:prstGeom>
                    <a:solidFill>
                      <a:srgbClr val="F5F5F5"/>
                    </a:solidFill>
                    <a:ln w="2540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rtl="0"/>
                      <a:endParaRPr lang="pt-PT" dirty="0"/>
                    </a:p>
                  </p:txBody>
                </p:sp>
              </p:grpSp>
              <p:grpSp>
                <p:nvGrpSpPr>
                  <p:cNvPr id="23" name="Grupo 22">
                    <a:extLst>
                      <a:ext uri="{FF2B5EF4-FFF2-40B4-BE49-F238E27FC236}">
                        <a16:creationId xmlns:a16="http://schemas.microsoft.com/office/drawing/2014/main" id="{1B35E89F-DBBF-47E6-BE9A-5FCC6F58A71B}"/>
                      </a:ext>
                    </a:extLst>
                  </p:cNvPr>
                  <p:cNvGrpSpPr/>
                  <p:nvPr/>
                </p:nvGrpSpPr>
                <p:grpSpPr>
                  <a:xfrm>
                    <a:off x="4019309" y="1818782"/>
                    <a:ext cx="619814" cy="619812"/>
                    <a:chOff x="5395606" y="2945201"/>
                    <a:chExt cx="507758" cy="507758"/>
                  </a:xfrm>
                </p:grpSpPr>
                <p:grpSp>
                  <p:nvGrpSpPr>
                    <p:cNvPr id="24" name="Grupo 23">
                      <a:extLst>
                        <a:ext uri="{FF2B5EF4-FFF2-40B4-BE49-F238E27FC236}">
                          <a16:creationId xmlns:a16="http://schemas.microsoft.com/office/drawing/2014/main" id="{BDCC4146-8BD7-4D40-8AAF-AB0442D8FD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95606" y="2945201"/>
                      <a:ext cx="507758" cy="507758"/>
                      <a:chOff x="5395606" y="2945201"/>
                      <a:chExt cx="507758" cy="507758"/>
                    </a:xfrm>
                  </p:grpSpPr>
                  <p:sp>
                    <p:nvSpPr>
                      <p:cNvPr id="26" name="Arco 25">
                        <a:extLst>
                          <a:ext uri="{FF2B5EF4-FFF2-40B4-BE49-F238E27FC236}">
                            <a16:creationId xmlns:a16="http://schemas.microsoft.com/office/drawing/2014/main" id="{D59381D8-E994-4774-9CF7-CB42807E4307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5555024" y="2942077"/>
                        <a:ext cx="188922" cy="507758"/>
                      </a:xfrm>
                      <a:prstGeom prst="arc">
                        <a:avLst>
                          <a:gd name="adj1" fmla="val 4576378"/>
                          <a:gd name="adj2" fmla="val 11059966"/>
                        </a:avLst>
                      </a:prstGeom>
                      <a:noFill/>
                      <a:ln w="25400" cap="rnd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w="sm" len="med"/>
                        <a:tailEnd type="triangle" w="lg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rtl="0"/>
                        <a:endParaRPr lang="pt-PT" dirty="0"/>
                      </a:p>
                    </p:txBody>
                  </p:sp>
                  <p:sp>
                    <p:nvSpPr>
                      <p:cNvPr id="27" name="Arco 26">
                        <a:extLst>
                          <a:ext uri="{FF2B5EF4-FFF2-40B4-BE49-F238E27FC236}">
                            <a16:creationId xmlns:a16="http://schemas.microsoft.com/office/drawing/2014/main" id="{DD1E383E-1872-46A3-B64F-66B724D4FFCF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572149" y="2945201"/>
                        <a:ext cx="174922" cy="507758"/>
                      </a:xfrm>
                      <a:prstGeom prst="arc">
                        <a:avLst>
                          <a:gd name="adj1" fmla="val 15117050"/>
                          <a:gd name="adj2" fmla="val 11084764"/>
                        </a:avLst>
                      </a:prstGeom>
                      <a:noFill/>
                      <a:ln w="25400" cap="rnd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w="sm" len="med"/>
                        <a:tailEnd type="triangle" w="lg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rtl="0"/>
                        <a:endParaRPr lang="pt-PT" dirty="0"/>
                      </a:p>
                    </p:txBody>
                  </p:sp>
                </p:grpSp>
                <p:sp>
                  <p:nvSpPr>
                    <p:cNvPr id="25" name="Arco 24">
                      <a:extLst>
                        <a:ext uri="{FF2B5EF4-FFF2-40B4-BE49-F238E27FC236}">
                          <a16:creationId xmlns:a16="http://schemas.microsoft.com/office/drawing/2014/main" id="{61B6451C-C849-48BC-956E-787738452619}"/>
                        </a:ext>
                        <a:ext uri="{C183D7F6-B498-43B3-948B-1728B52AA6E4}">
                          <adec:decorative xmlns:adec="http://schemas.microsoft.com/office/drawing/2017/decorative" val="1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555024" y="2942077"/>
                      <a:ext cx="188922" cy="507758"/>
                    </a:xfrm>
                    <a:prstGeom prst="arc">
                      <a:avLst>
                        <a:gd name="adj1" fmla="val 14242202"/>
                        <a:gd name="adj2" fmla="val 102366"/>
                      </a:avLst>
                    </a:prstGeom>
                    <a:noFill/>
                    <a:ln w="25400" cap="rnd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sm" len="med"/>
                      <a:tailEnd type="none" w="lg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rtl="0"/>
                      <a:endParaRPr lang="pt-PT" dirty="0"/>
                    </a:p>
                  </p:txBody>
                </p:sp>
              </p:grpSp>
            </p:grpSp>
          </p:grp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35BCDFCC-1BC5-4193-A4C8-4E0EBED82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5173490" y="2375249"/>
              <a:ext cx="419066" cy="419064"/>
              <a:chOff x="4602515" y="3455520"/>
              <a:chExt cx="419066" cy="419064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C49980F-0EF9-4E74-9963-9E42208581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02515" y="3455520"/>
                <a:ext cx="419066" cy="419064"/>
              </a:xfrm>
              <a:prstGeom prst="ellipse">
                <a:avLst/>
              </a:prstGeom>
              <a:solidFill>
                <a:srgbClr val="F5F5F5">
                  <a:alpha val="75000"/>
                </a:srgbClr>
              </a:solidFill>
              <a:ln w="15875" cap="rnd">
                <a:solidFill>
                  <a:srgbClr val="828E7D"/>
                </a:solidFill>
                <a:prstDash val="solid"/>
                <a:round/>
                <a:headEnd w="sm" len="med"/>
                <a:tailEnd w="med" len="sm"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pt-PT" dirty="0"/>
              </a:p>
            </p:txBody>
          </p:sp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D387E48A-D075-4259-8312-1CEA680849F7}"/>
                  </a:ext>
                </a:extLst>
              </p:cNvPr>
              <p:cNvGrpSpPr/>
              <p:nvPr/>
            </p:nvGrpSpPr>
            <p:grpSpPr>
              <a:xfrm>
                <a:off x="4644218" y="3502269"/>
                <a:ext cx="330574" cy="330572"/>
                <a:chOff x="5395606" y="2945201"/>
                <a:chExt cx="507758" cy="507758"/>
              </a:xfrm>
            </p:grpSpPr>
            <p:grpSp>
              <p:nvGrpSpPr>
                <p:cNvPr id="7" name="Grupo 6">
                  <a:extLst>
                    <a:ext uri="{FF2B5EF4-FFF2-40B4-BE49-F238E27FC236}">
                      <a16:creationId xmlns:a16="http://schemas.microsoft.com/office/drawing/2014/main" id="{881DDF7C-2E66-4389-BF5B-00985205CE47}"/>
                    </a:ext>
                  </a:extLst>
                </p:cNvPr>
                <p:cNvGrpSpPr/>
                <p:nvPr/>
              </p:nvGrpSpPr>
              <p:grpSpPr>
                <a:xfrm>
                  <a:off x="5395606" y="2945201"/>
                  <a:ext cx="507758" cy="507758"/>
                  <a:chOff x="5395606" y="2945201"/>
                  <a:chExt cx="507758" cy="507758"/>
                </a:xfrm>
              </p:grpSpPr>
              <p:sp>
                <p:nvSpPr>
                  <p:cNvPr id="9" name="Arco 8">
                    <a:extLst>
                      <a:ext uri="{FF2B5EF4-FFF2-40B4-BE49-F238E27FC236}">
                        <a16:creationId xmlns:a16="http://schemas.microsoft.com/office/drawing/2014/main" id="{E5916305-18E9-46F7-943B-91FED303D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555024" y="2942077"/>
                    <a:ext cx="188922" cy="507758"/>
                  </a:xfrm>
                  <a:prstGeom prst="arc">
                    <a:avLst>
                      <a:gd name="adj1" fmla="val 4576378"/>
                      <a:gd name="adj2" fmla="val 11059966"/>
                    </a:avLst>
                  </a:prstGeom>
                  <a:noFill/>
                  <a:ln w="15875" cap="rnd">
                    <a:solidFill>
                      <a:srgbClr val="828E7D"/>
                    </a:solidFill>
                    <a:prstDash val="solid"/>
                    <a:round/>
                    <a:headEnd w="sm" len="med"/>
                    <a:tailEnd type="triangle" w="med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pt-PT" dirty="0"/>
                  </a:p>
                </p:txBody>
              </p:sp>
              <p:sp>
                <p:nvSpPr>
                  <p:cNvPr id="10" name="Arco 9">
                    <a:extLst>
                      <a:ext uri="{FF2B5EF4-FFF2-40B4-BE49-F238E27FC236}">
                        <a16:creationId xmlns:a16="http://schemas.microsoft.com/office/drawing/2014/main" id="{0C4CD625-BAFF-46A5-B121-C01C7CD8852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572149" y="2945201"/>
                    <a:ext cx="174922" cy="507758"/>
                  </a:xfrm>
                  <a:prstGeom prst="arc">
                    <a:avLst>
                      <a:gd name="adj1" fmla="val 15117050"/>
                      <a:gd name="adj2" fmla="val 11084764"/>
                    </a:avLst>
                  </a:prstGeom>
                  <a:noFill/>
                  <a:ln w="15875" cap="rnd">
                    <a:solidFill>
                      <a:srgbClr val="828E7D"/>
                    </a:solidFill>
                    <a:prstDash val="solid"/>
                    <a:round/>
                    <a:headEnd w="sm" len="med"/>
                    <a:tailEnd type="triangle" w="med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pt-PT" dirty="0"/>
                  </a:p>
                </p:txBody>
              </p:sp>
            </p:grpSp>
            <p:sp>
              <p:nvSpPr>
                <p:cNvPr id="8" name="Arco 7">
                  <a:extLst>
                    <a:ext uri="{FF2B5EF4-FFF2-40B4-BE49-F238E27FC236}">
                      <a16:creationId xmlns:a16="http://schemas.microsoft.com/office/drawing/2014/main" id="{631CB06C-E0F2-4FA3-832F-5AF317894D4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 rot="16200000">
                  <a:off x="5555024" y="2942077"/>
                  <a:ext cx="188922" cy="507758"/>
                </a:xfrm>
                <a:prstGeom prst="arc">
                  <a:avLst>
                    <a:gd name="adj1" fmla="val 14242202"/>
                    <a:gd name="adj2" fmla="val 102366"/>
                  </a:avLst>
                </a:prstGeom>
                <a:noFill/>
                <a:ln w="15875" cap="rnd">
                  <a:solidFill>
                    <a:srgbClr val="828E7D"/>
                  </a:solidFill>
                  <a:prstDash val="solid"/>
                  <a:round/>
                  <a:headEnd w="sm" len="med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PT" dirty="0"/>
                </a:p>
              </p:txBody>
            </p:sp>
          </p:grpSp>
        </p:grpSp>
      </p:grpSp>
      <p:sp>
        <p:nvSpPr>
          <p:cNvPr id="14" name="Passo 2 Número" descr="Método 2:">
            <a:extLst>
              <a:ext uri="{FF2B5EF4-FFF2-40B4-BE49-F238E27FC236}">
                <a16:creationId xmlns:a16="http://schemas.microsoft.com/office/drawing/2014/main" id="{9A5A9B9F-B0C0-4A76-B9C7-3C6ED0008BC9}"/>
              </a:ext>
            </a:extLst>
          </p:cNvPr>
          <p:cNvSpPr/>
          <p:nvPr/>
        </p:nvSpPr>
        <p:spPr bwMode="blackWhite">
          <a:xfrm>
            <a:off x="630366" y="3205699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PT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15" name="Passo 2 Texto" descr="Em alternativa, com o seu modelo selecionado, no Friso, no separador Formatar das Ferramentas de Modelo 3D, pode clicar na galeria Vistas de Modelo 3D para aplicar uma das várias vistas de posição.">
            <a:extLst>
              <a:ext uri="{FF2B5EF4-FFF2-40B4-BE49-F238E27FC236}">
                <a16:creationId xmlns:a16="http://schemas.microsoft.com/office/drawing/2014/main" id="{D223119D-72DB-4091-AE4B-0A82DC881E79}"/>
              </a:ext>
            </a:extLst>
          </p:cNvPr>
          <p:cNvSpPr txBox="1">
            <a:spLocks/>
          </p:cNvSpPr>
          <p:nvPr/>
        </p:nvSpPr>
        <p:spPr>
          <a:xfrm>
            <a:off x="1066038" y="3245892"/>
            <a:ext cx="3863210" cy="1058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alternativa, com o seu modelo selecionado, no Friso, no separador Formatar das Ferramentas de Modelo 3D, pode </a:t>
            </a:r>
            <a:r>
              <a:rPr lang="pt-PT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clicar</a:t>
            </a:r>
            <a:r>
              <a:rPr lang="pt-PT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 galeria Vistas de Modelo 3D para aplicar uma das várias </a:t>
            </a:r>
            <a:r>
              <a:rPr lang="pt-PT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vistas de posição</a:t>
            </a:r>
            <a:r>
              <a:rPr lang="pt-PT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AEDDAA5-B6E5-49F3-A495-94B7927A6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035175" y="4807119"/>
            <a:ext cx="833933" cy="1943095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43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b="1" dirty="0"/>
          </a:p>
        </p:txBody>
      </p:sp>
      <p:pic>
        <p:nvPicPr>
          <p:cNvPr id="38" name="Imagem 37" descr="Captura de ecrã do menu de opções">
            <a:extLst>
              <a:ext uri="{FF2B5EF4-FFF2-40B4-BE49-F238E27FC236}">
                <a16:creationId xmlns:a16="http://schemas.microsoft.com/office/drawing/2014/main" id="{08B1B93C-03D0-4BEF-B12B-9E51D2D2BE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2032" y="4405113"/>
            <a:ext cx="6794144" cy="218052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Modelo 3D 36" descr="Imagem 3D de um papagaio">
                <a:extLst>
                  <a:ext uri="{FF2B5EF4-FFF2-40B4-BE49-F238E27FC236}">
                    <a16:creationId xmlns:a16="http://schemas.microsoft.com/office/drawing/2014/main" id="{4483D506-2C3F-4711-94B1-0CC3F8D8F3E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1425844"/>
                  </p:ext>
                </p:extLst>
              </p:nvPr>
            </p:nvGraphicFramePr>
            <p:xfrm>
              <a:off x="8134006" y="1431342"/>
              <a:ext cx="1552272" cy="4866325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1552272" cy="4866325"/>
                    </a:xfrm>
                    <a:prstGeom prst="rect">
                      <a:avLst/>
                    </a:prstGeom>
                  </am3d:spPr>
                  <am3d:camera>
                    <am3d:pos x="0" y="0" z="525630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89550" d="1000000"/>
                    <am3d:preTrans dx="2779495" dy="-17991192" dz="-845298"/>
                    <am3d:scale>
                      <am3d:sx n="1000000" d="1000000"/>
                      <am3d:sy n="1000000" d="1000000"/>
                      <am3d:sz n="1000000" d="1000000"/>
                    </am3d:scale>
                    <am3d:rot ax="214005" ay="217895" az="1356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4186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Modelo 3D 36" descr="Imagem 3D de um papagaio">
                <a:extLst>
                  <a:ext uri="{FF2B5EF4-FFF2-40B4-BE49-F238E27FC236}">
                    <a16:creationId xmlns:a16="http://schemas.microsoft.com/office/drawing/2014/main" id="{4483D506-2C3F-4711-94B1-0CC3F8D8F3E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34006" y="1431342"/>
                <a:ext cx="1552272" cy="48663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9584234"/>
      </p:ext>
    </p:extLst>
  </p:cSld>
  <p:clrMapOvr>
    <a:masterClrMapping/>
  </p:clrMapOvr>
  <p:transition spd="slow" advTm="3000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A3C97-E356-4FF9-AED5-879B8F99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Posicionamento e Zoom</a:t>
            </a:r>
          </a:p>
        </p:txBody>
      </p:sp>
      <p:sp>
        <p:nvSpPr>
          <p:cNvPr id="3" name="Retângulo 2" descr="Para redimensionar ou recortar o seu modelo 3D numa moldura, pode utilizar a ferramenta Posicionamento e Zoom.">
            <a:extLst>
              <a:ext uri="{FF2B5EF4-FFF2-40B4-BE49-F238E27FC236}">
                <a16:creationId xmlns:a16="http://schemas.microsoft.com/office/drawing/2014/main" id="{874312F7-8744-467E-9DCF-F78292FB02D0}"/>
              </a:ext>
            </a:extLst>
          </p:cNvPr>
          <p:cNvSpPr/>
          <p:nvPr/>
        </p:nvSpPr>
        <p:spPr>
          <a:xfrm>
            <a:off x="515937" y="1345489"/>
            <a:ext cx="9787559" cy="3002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 rtl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</a:pPr>
            <a:r>
              <a:rPr lang="pt-PT" sz="12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redimensionar ou recortar o seu modelo 3D numa moldura, pode utilizar a ferramenta Posicionamento e Zoom.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Modelo 3D da parte superior de um papagaio visto de frente">
                <a:extLst>
                  <a:ext uri="{FF2B5EF4-FFF2-40B4-BE49-F238E27FC236}">
                    <a16:creationId xmlns:a16="http://schemas.microsoft.com/office/drawing/2014/main" id="{0669C767-52A4-4999-8261-9B7806803E3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40535312"/>
                  </p:ext>
                </p:extLst>
              </p:nvPr>
            </p:nvGraphicFramePr>
            <p:xfrm>
              <a:off x="1563759" y="1912355"/>
              <a:ext cx="1552272" cy="211638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552272" cy="2116381"/>
                    </a:xfrm>
                    <a:prstGeom prst="rect">
                      <a:avLst/>
                    </a:prstGeom>
                  </am3d:spPr>
                  <am3d:camera>
                    <am3d:pos x="-268418" y="12278049" z="52563001"/>
                    <am3d:up dx="0" dy="36000000" dz="0"/>
                    <am3d:lookAt x="-268418" y="12278049" z="0"/>
                    <am3d:perspective fov="824242"/>
                  </am3d:camera>
                  <am3d:trans>
                    <am3d:meterPerModelUnit n="12089550" d="1000000"/>
                    <am3d:preTrans dx="2005600" dy="-22605202" dz="-606908"/>
                    <am3d:scale>
                      <am3d:sx n="1000000" d="1000000"/>
                      <am3d:sy n="1000000" d="1000000"/>
                      <am3d:sz n="1000000" d="1000000"/>
                    </am3d:scale>
                    <am3d:rot ax="751672" ay="-1275459" az="-276367"/>
                    <am3d:postTrans dx="757208" dy="4622928" dz="0"/>
                  </am3d:trans>
                  <am3d:raster rName="Office3DRenderer" rVer="16.0.8326">
                    <am3d:blip r:embed="rId4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Modelo 3D da parte superior de um papagaio visto de frente">
                <a:extLst>
                  <a:ext uri="{FF2B5EF4-FFF2-40B4-BE49-F238E27FC236}">
                    <a16:creationId xmlns:a16="http://schemas.microsoft.com/office/drawing/2014/main" id="{0669C767-52A4-4999-8261-9B7806803E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3759" y="1912355"/>
                <a:ext cx="1552272" cy="2116381"/>
              </a:xfrm>
              <a:prstGeom prst="rect">
                <a:avLst/>
              </a:prstGeom>
            </p:spPr>
          </p:pic>
        </mc:Fallback>
      </mc:AlternateContent>
      <p:grpSp>
        <p:nvGrpSpPr>
          <p:cNvPr id="4" name="Passo 1" descr="Círculo pequeno com o número 1 a indicar o passo 1">
            <a:extLst>
              <a:ext uri="{FF2B5EF4-FFF2-40B4-BE49-F238E27FC236}">
                <a16:creationId xmlns:a16="http://schemas.microsoft.com/office/drawing/2014/main" id="{A98CACC9-95AD-4FA9-B112-2614409B3034}"/>
              </a:ext>
            </a:extLst>
          </p:cNvPr>
          <p:cNvGrpSpPr/>
          <p:nvPr/>
        </p:nvGrpSpPr>
        <p:grpSpPr bwMode="blackWhite">
          <a:xfrm>
            <a:off x="523554" y="4044150"/>
            <a:ext cx="558179" cy="409838"/>
            <a:chOff x="6953426" y="711274"/>
            <a:chExt cx="558179" cy="409838"/>
          </a:xfrm>
        </p:grpSpPr>
        <p:sp>
          <p:nvSpPr>
            <p:cNvPr id="5" name="Oval 4" descr="Círculo pequeno">
              <a:extLst>
                <a:ext uri="{FF2B5EF4-FFF2-40B4-BE49-F238E27FC236}">
                  <a16:creationId xmlns:a16="http://schemas.microsoft.com/office/drawing/2014/main" id="{85E15BFF-C7BD-48F1-ADAD-806664D31D05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6" name="Caixa de texto 5" descr="Número 1">
              <a:extLst>
                <a:ext uri="{FF2B5EF4-FFF2-40B4-BE49-F238E27FC236}">
                  <a16:creationId xmlns:a16="http://schemas.microsoft.com/office/drawing/2014/main" id="{8A35519D-559D-4CEF-9805-8DFBFE16F778}"/>
                </a:ext>
              </a:extLst>
            </p:cNvPr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7" name="Passo de Marcador de Posição de Conteúdo 1" descr="Selecione o seu modelo 3D &gt; Formato de Modelos 3D &gt; Posicionamento e Zoom&#10;&#10;Nota: a ferramenta Posicionamento e Zoom funciona como um botão ativar/desativar. Uma vez premida, poderá ver uma caixa cinzenta à volta do botão Posicionamento e Zoom que indica que a funcionalidade está ativada. Prima novamente o botão para desativar a funcionalidade Posicionamento e Zoom.">
            <a:extLst>
              <a:ext uri="{FF2B5EF4-FFF2-40B4-BE49-F238E27FC236}">
                <a16:creationId xmlns:a16="http://schemas.microsoft.com/office/drawing/2014/main" id="{3EE46009-9B31-417A-AB61-8C70009004B3}"/>
              </a:ext>
            </a:extLst>
          </p:cNvPr>
          <p:cNvSpPr txBox="1">
            <a:spLocks/>
          </p:cNvSpPr>
          <p:nvPr/>
        </p:nvSpPr>
        <p:spPr>
          <a:xfrm>
            <a:off x="1030869" y="4084342"/>
            <a:ext cx="3165792" cy="26364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 spc="-3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Selecione o seu modelo 3D</a:t>
            </a:r>
            <a:r>
              <a:rPr lang="pt-PT" spc="-3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pt-PT" spc="-3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Modelo 3D</a:t>
            </a:r>
            <a:r>
              <a:rPr lang="pt-PT" spc="-3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pt-PT" spc="-3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Posicionamento e Zoom.</a:t>
            </a:r>
            <a:br>
              <a:rPr lang="pt-PT" spc="-3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pt-PT" spc="-3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pt-PT" spc="-3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Nota: </a:t>
            </a:r>
            <a:r>
              <a:rPr lang="pt-PT" spc="-3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ferramenta Posicionamento e Zoom funciona como um botão ativar/desativar. Uma vez premida, poderá ver uma caixa cinzenta à volta do botão Posicionamento e Zoom que indica que a funcionalidade está ativada. Prima novamente o botão para desativar a funcionalidade Posicionamento e Zoom.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1" name="Modelo 3D 20" descr="Modelo 3D da parte superior de um papagaio visto de lado">
                <a:extLst>
                  <a:ext uri="{FF2B5EF4-FFF2-40B4-BE49-F238E27FC236}">
                    <a16:creationId xmlns:a16="http://schemas.microsoft.com/office/drawing/2014/main" id="{01123BCC-10A2-42F5-86DE-AC1C648A8F7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72618101"/>
                  </p:ext>
                </p:extLst>
              </p:nvPr>
            </p:nvGraphicFramePr>
            <p:xfrm>
              <a:off x="5257883" y="1426650"/>
              <a:ext cx="2147042" cy="263107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147042" cy="2631070"/>
                    </a:xfrm>
                    <a:prstGeom prst="rect">
                      <a:avLst/>
                    </a:prstGeom>
                  </am3d:spPr>
                  <am3d:camera>
                    <am3d:pos x="3761398" y="14119596" z="52563001"/>
                    <am3d:up dx="0" dy="36000000" dz="0"/>
                    <am3d:lookAt x="3761398" y="14119596" z="0"/>
                    <am3d:perspective fov="824242"/>
                  </am3d:camera>
                  <am3d:trans>
                    <am3d:meterPerModelUnit n="12089550" d="1000000"/>
                    <am3d:preTrans dx="2231507" dy="-30285532" dz="-2876686"/>
                    <am3d:scale>
                      <am3d:sx n="1000000" d="1000000"/>
                      <am3d:sy n="1000000" d="1000000"/>
                      <am3d:sz n="1000000" d="1000000"/>
                    </am3d:scale>
                    <am3d:rot ax="407651" ay="3337388" az="336927"/>
                    <am3d:postTrans dx="3304004" dy="12462524" dz="0"/>
                  </am3d:trans>
                  <am3d:raster rName="Office3DRenderer" rVer="16.0.8326">
                    <am3d:blip r:embed="rId5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1" name="Modelo 3D 20" descr="Modelo 3D da parte superior de um papagaio visto de lado">
                <a:extLst>
                  <a:ext uri="{FF2B5EF4-FFF2-40B4-BE49-F238E27FC236}">
                    <a16:creationId xmlns:a16="http://schemas.microsoft.com/office/drawing/2014/main" id="{01123BCC-10A2-42F5-86DE-AC1C648A8F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7883" y="1426650"/>
                <a:ext cx="2147042" cy="263107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Passo 2" descr="Círculo pequeno com o número 2 a indicar o passo 2">
            <a:extLst>
              <a:ext uri="{FF2B5EF4-FFF2-40B4-BE49-F238E27FC236}">
                <a16:creationId xmlns:a16="http://schemas.microsoft.com/office/drawing/2014/main" id="{0134A81D-5B1C-4A76-8173-F064585D6D49}"/>
              </a:ext>
            </a:extLst>
          </p:cNvPr>
          <p:cNvGrpSpPr/>
          <p:nvPr/>
        </p:nvGrpSpPr>
        <p:grpSpPr bwMode="blackWhite">
          <a:xfrm>
            <a:off x="4367247" y="4044150"/>
            <a:ext cx="558179" cy="409838"/>
            <a:chOff x="6953426" y="711274"/>
            <a:chExt cx="558179" cy="409838"/>
          </a:xfrm>
        </p:grpSpPr>
        <p:sp>
          <p:nvSpPr>
            <p:cNvPr id="9" name="Oval 8" descr="Círculo pequeno">
              <a:extLst>
                <a:ext uri="{FF2B5EF4-FFF2-40B4-BE49-F238E27FC236}">
                  <a16:creationId xmlns:a16="http://schemas.microsoft.com/office/drawing/2014/main" id="{CE0F87BC-F03F-4D0B-9A96-7530CD918386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10" name="Caixa de texto 9" descr="Número 2">
              <a:extLst>
                <a:ext uri="{FF2B5EF4-FFF2-40B4-BE49-F238E27FC236}">
                  <a16:creationId xmlns:a16="http://schemas.microsoft.com/office/drawing/2014/main" id="{558F649E-C746-445A-AB92-6DC92B377D12}"/>
                </a:ext>
              </a:extLst>
            </p:cNvPr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11" name="Passo de Marcador de Posição de Conteúdo 2" descr="Com o botão Posicionamento e Zoom ativado, mova, rode e redimensione o seu modelo 3D.  ">
            <a:extLst>
              <a:ext uri="{FF2B5EF4-FFF2-40B4-BE49-F238E27FC236}">
                <a16:creationId xmlns:a16="http://schemas.microsoft.com/office/drawing/2014/main" id="{38280C20-AD97-47D9-A4D9-3D51B6EEA886}"/>
              </a:ext>
            </a:extLst>
          </p:cNvPr>
          <p:cNvSpPr txBox="1">
            <a:spLocks/>
          </p:cNvSpPr>
          <p:nvPr/>
        </p:nvSpPr>
        <p:spPr>
          <a:xfrm>
            <a:off x="4866001" y="4084342"/>
            <a:ext cx="2527099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o botão Posicionamento e Zoom ativado,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mova, rode e redimensione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 seu modelo 3D.  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2" name="Modelo 3D 21" descr="Modelo 3D da parte superior de um papagaio visto de trás">
                <a:extLst>
                  <a:ext uri="{FF2B5EF4-FFF2-40B4-BE49-F238E27FC236}">
                    <a16:creationId xmlns:a16="http://schemas.microsoft.com/office/drawing/2014/main" id="{E4FC00AF-B769-4FD1-A5EF-41179EF2E7B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41148195"/>
                  </p:ext>
                </p:extLst>
              </p:nvPr>
            </p:nvGraphicFramePr>
            <p:xfrm>
              <a:off x="8315408" y="1388864"/>
              <a:ext cx="2147042" cy="263107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147042" cy="2631070"/>
                    </a:xfrm>
                    <a:prstGeom prst="rect">
                      <a:avLst/>
                    </a:prstGeom>
                  </am3d:spPr>
                  <am3d:camera>
                    <am3d:pos x="3761398" y="14119596" z="52563001"/>
                    <am3d:up dx="0" dy="36000000" dz="0"/>
                    <am3d:lookAt x="3761398" y="14119596" z="0"/>
                    <am3d:perspective fov="824242"/>
                  </am3d:camera>
                  <am3d:trans>
                    <am3d:meterPerModelUnit n="12089550" d="1000000"/>
                    <am3d:preTrans dx="1882932" dy="-31938905" dz="-3192827"/>
                    <am3d:scale>
                      <am3d:sx n="1000000" d="1000000"/>
                      <am3d:sy n="1000000" d="1000000"/>
                      <am3d:sz n="1000000" d="1000000"/>
                    </am3d:scale>
                    <am3d:rot ax="-9382174" ay="-2025520" az="9980064"/>
                    <am3d:postTrans dx="3761397" dy="14119595" dz="0"/>
                  </am3d:trans>
                  <am3d:raster rName="Office3DRenderer" rVer="16.0.8326">
                    <am3d:blip r:embed="rId6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2" name="Modelo 3D 21" descr="Modelo 3D da parte superior de um papagaio visto de trás">
                <a:extLst>
                  <a:ext uri="{FF2B5EF4-FFF2-40B4-BE49-F238E27FC236}">
                    <a16:creationId xmlns:a16="http://schemas.microsoft.com/office/drawing/2014/main" id="{E4FC00AF-B769-4FD1-A5EF-41179EF2E7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15408" y="1388864"/>
                <a:ext cx="2147042" cy="263107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Passo 3" descr="Círculo pequeno com o número 3 a indicar o passo 3">
            <a:extLst>
              <a:ext uri="{FF2B5EF4-FFF2-40B4-BE49-F238E27FC236}">
                <a16:creationId xmlns:a16="http://schemas.microsoft.com/office/drawing/2014/main" id="{07CF4AF3-D618-49AD-BB03-5E5F7A41C8D9}"/>
              </a:ext>
            </a:extLst>
          </p:cNvPr>
          <p:cNvGrpSpPr/>
          <p:nvPr/>
        </p:nvGrpSpPr>
        <p:grpSpPr bwMode="blackWhite">
          <a:xfrm>
            <a:off x="7895752" y="4044150"/>
            <a:ext cx="558179" cy="409838"/>
            <a:chOff x="6953426" y="711274"/>
            <a:chExt cx="558179" cy="409838"/>
          </a:xfrm>
        </p:grpSpPr>
        <p:sp>
          <p:nvSpPr>
            <p:cNvPr id="13" name="Oval 12" descr="Círculo pequeno">
              <a:extLst>
                <a:ext uri="{FF2B5EF4-FFF2-40B4-BE49-F238E27FC236}">
                  <a16:creationId xmlns:a16="http://schemas.microsoft.com/office/drawing/2014/main" id="{BE5E6BE8-4DC5-41CD-9A48-850FCE78556C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14" name="Caixa de texto 13" descr="Número 3">
              <a:extLst>
                <a:ext uri="{FF2B5EF4-FFF2-40B4-BE49-F238E27FC236}">
                  <a16:creationId xmlns:a16="http://schemas.microsoft.com/office/drawing/2014/main" id="{82CA4843-739A-4E67-906B-55C8A5C992C4}"/>
                </a:ext>
              </a:extLst>
            </p:cNvPr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15" name="Passo de Marcador de Posição de Conteúdo 3" descr="Quando terminar de editar, clique novamente no botão Posicionamento e Zoom para sair do modo Posicionamento e Zoom.">
            <a:extLst>
              <a:ext uri="{FF2B5EF4-FFF2-40B4-BE49-F238E27FC236}">
                <a16:creationId xmlns:a16="http://schemas.microsoft.com/office/drawing/2014/main" id="{89BC12B6-BA4F-4362-A61E-A7B108FEAF3C}"/>
              </a:ext>
            </a:extLst>
          </p:cNvPr>
          <p:cNvSpPr txBox="1">
            <a:spLocks/>
          </p:cNvSpPr>
          <p:nvPr/>
        </p:nvSpPr>
        <p:spPr>
          <a:xfrm>
            <a:off x="8394499" y="4084341"/>
            <a:ext cx="2346125" cy="11717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Quando terminar de editar, </a:t>
            </a:r>
            <a:b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clique novamente no botão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Posicionamento e Zoom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sair do modo Posicionamento e Zoom.</a:t>
            </a:r>
          </a:p>
        </p:txBody>
      </p:sp>
    </p:spTree>
    <p:extLst>
      <p:ext uri="{BB962C8B-B14F-4D97-AF65-F5344CB8AC3E}">
        <p14:creationId xmlns:p14="http://schemas.microsoft.com/office/powerpoint/2010/main" val="1764756509"/>
      </p:ext>
    </p:extLst>
  </p:cSld>
  <p:clrMapOvr>
    <a:masterClrMapping/>
  </p:clrMapOvr>
  <p:transition spd="slow" advTm="3000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4FD4D-5161-46CF-8E5C-B36508F3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Agora, Anime o Seu Modelo 3D Através da Transição Modificação</a:t>
            </a:r>
          </a:p>
        </p:txBody>
      </p:sp>
      <p:sp>
        <p:nvSpPr>
          <p:cNvPr id="3" name="Marcador de Posição de Conteúdo 17" descr="Experimente com o papagaio à direita:">
            <a:extLst>
              <a:ext uri="{FF2B5EF4-FFF2-40B4-BE49-F238E27FC236}">
                <a16:creationId xmlns:a16="http://schemas.microsoft.com/office/drawing/2014/main" id="{97AA353E-E722-4B84-B6FC-BA525C346A84}"/>
              </a:ext>
            </a:extLst>
          </p:cNvPr>
          <p:cNvSpPr txBox="1">
            <a:spLocks/>
          </p:cNvSpPr>
          <p:nvPr/>
        </p:nvSpPr>
        <p:spPr>
          <a:xfrm>
            <a:off x="541609" y="1319644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Experimente com o papagaio à direita:</a:t>
            </a:r>
          </a:p>
        </p:txBody>
      </p:sp>
      <p:grpSp>
        <p:nvGrpSpPr>
          <p:cNvPr id="4" name="Grupo 3" descr="Círculo pequeno com o número 1 a indicar o passo 1">
            <a:extLst>
              <a:ext uri="{FF2B5EF4-FFF2-40B4-BE49-F238E27FC236}">
                <a16:creationId xmlns:a16="http://schemas.microsoft.com/office/drawing/2014/main" id="{3269B3D7-5745-49A6-89FF-2081F3701FD9}"/>
              </a:ext>
            </a:extLst>
          </p:cNvPr>
          <p:cNvGrpSpPr/>
          <p:nvPr/>
        </p:nvGrpSpPr>
        <p:grpSpPr bwMode="blackWhite">
          <a:xfrm>
            <a:off x="558723" y="2037810"/>
            <a:ext cx="558179" cy="409838"/>
            <a:chOff x="6953426" y="711274"/>
            <a:chExt cx="558179" cy="409838"/>
          </a:xfrm>
        </p:grpSpPr>
        <p:sp>
          <p:nvSpPr>
            <p:cNvPr id="5" name="Oval 4" descr="Círculo pequeno">
              <a:extLst>
                <a:ext uri="{FF2B5EF4-FFF2-40B4-BE49-F238E27FC236}">
                  <a16:creationId xmlns:a16="http://schemas.microsoft.com/office/drawing/2014/main" id="{0E962EFE-9E1B-4EBA-A23E-849D0F33736E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6" name="Caixa de texto 5" descr="Número 1">
              <a:extLst>
                <a:ext uri="{FF2B5EF4-FFF2-40B4-BE49-F238E27FC236}">
                  <a16:creationId xmlns:a16="http://schemas.microsoft.com/office/drawing/2014/main" id="{3CFCE22A-40CE-4B63-A5D5-B20648FE18D3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7" name="Marcador de Posição de Conteúdo 17" descr="Duplique este diapositivo: Clique com o botão direito do rato na miniatura do diapositivo e selecione Duplicar Diapositivo.">
            <a:extLst>
              <a:ext uri="{FF2B5EF4-FFF2-40B4-BE49-F238E27FC236}">
                <a16:creationId xmlns:a16="http://schemas.microsoft.com/office/drawing/2014/main" id="{A5D11E1A-550F-4E54-82BE-B2019638DC80}"/>
              </a:ext>
            </a:extLst>
          </p:cNvPr>
          <p:cNvSpPr txBox="1">
            <a:spLocks/>
          </p:cNvSpPr>
          <p:nvPr/>
        </p:nvSpPr>
        <p:spPr>
          <a:xfrm>
            <a:off x="1091928" y="2078002"/>
            <a:ext cx="2486328" cy="1248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Duplique este diapositivo: clique com o botão direito do rato na miniatura do diapositivo e selecione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Duplicar Diapositivo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8" name="Imagem 7" descr="Menu de contexto na miniatura do diapositivo a mostrar a opção Duplicar Diapositivo">
            <a:extLst>
              <a:ext uri="{FF2B5EF4-FFF2-40B4-BE49-F238E27FC236}">
                <a16:creationId xmlns:a16="http://schemas.microsoft.com/office/drawing/2014/main" id="{79219B9A-9991-4B3C-A46B-331267D7B1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15444" y="1575304"/>
            <a:ext cx="1589393" cy="2044780"/>
          </a:xfrm>
          <a:prstGeom prst="rect">
            <a:avLst/>
          </a:prstGeom>
        </p:spPr>
      </p:pic>
      <p:grpSp>
        <p:nvGrpSpPr>
          <p:cNvPr id="9" name="Grupo 8" descr="Círculo pequeno com o número 2 a indicar o passo 2">
            <a:extLst>
              <a:ext uri="{FF2B5EF4-FFF2-40B4-BE49-F238E27FC236}">
                <a16:creationId xmlns:a16="http://schemas.microsoft.com/office/drawing/2014/main" id="{EAEB66BE-3E83-4881-90B8-AF09B5348FD8}"/>
              </a:ext>
            </a:extLst>
          </p:cNvPr>
          <p:cNvGrpSpPr/>
          <p:nvPr/>
        </p:nvGrpSpPr>
        <p:grpSpPr bwMode="blackWhite">
          <a:xfrm>
            <a:off x="558723" y="3463211"/>
            <a:ext cx="558179" cy="409838"/>
            <a:chOff x="6953426" y="711274"/>
            <a:chExt cx="558179" cy="409838"/>
          </a:xfrm>
        </p:grpSpPr>
        <p:sp>
          <p:nvSpPr>
            <p:cNvPr id="10" name="Oval 9" descr="Círculo pequeno">
              <a:extLst>
                <a:ext uri="{FF2B5EF4-FFF2-40B4-BE49-F238E27FC236}">
                  <a16:creationId xmlns:a16="http://schemas.microsoft.com/office/drawing/2014/main" id="{09DD71A3-AA7E-4B16-8E2B-93274BC4ED9E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11" name="Caixa de texto 10" descr="Número 2">
              <a:extLst>
                <a:ext uri="{FF2B5EF4-FFF2-40B4-BE49-F238E27FC236}">
                  <a16:creationId xmlns:a16="http://schemas.microsoft.com/office/drawing/2014/main" id="{10B09779-8AA2-4FFC-A0C3-0D47471C40C7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12" name="Marcador de Posição de Conteúdo 17" descr="No segundo destes dois diapositivos idênticos, altere o Modelo 3D à direita de algum modo (rode, mova ou redimensione) e, em seguida, aceda a Transições &gt; Modificação.">
            <a:extLst>
              <a:ext uri="{FF2B5EF4-FFF2-40B4-BE49-F238E27FC236}">
                <a16:creationId xmlns:a16="http://schemas.microsoft.com/office/drawing/2014/main" id="{DA4BE72C-97DB-4A0D-8CDB-3CD5BB7DCF3E}"/>
              </a:ext>
            </a:extLst>
          </p:cNvPr>
          <p:cNvSpPr txBox="1">
            <a:spLocks/>
          </p:cNvSpPr>
          <p:nvPr/>
        </p:nvSpPr>
        <p:spPr>
          <a:xfrm>
            <a:off x="1091928" y="3503403"/>
            <a:ext cx="2676522" cy="1553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segundo destes dois diapositivos idênticos, altere o Modelo 3D à direita de algum modo (rode, mova ou redimensione) e, em seguida, aceda a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Transições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Modificação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13" name="Imagem 12" descr="Separador Transição a mostrar a transição Modificação">
            <a:extLst>
              <a:ext uri="{FF2B5EF4-FFF2-40B4-BE49-F238E27FC236}">
                <a16:creationId xmlns:a16="http://schemas.microsoft.com/office/drawing/2014/main" id="{1700602B-85F7-480F-B244-AE5F12DF16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69136" y="3469562"/>
            <a:ext cx="2797071" cy="1344293"/>
          </a:xfrm>
          <a:prstGeom prst="rect">
            <a:avLst/>
          </a:prstGeom>
        </p:spPr>
      </p:pic>
      <p:grpSp>
        <p:nvGrpSpPr>
          <p:cNvPr id="14" name="Grupo 13" descr="Círculo pequeno com o número 3 a indicar o passo 3">
            <a:extLst>
              <a:ext uri="{FF2B5EF4-FFF2-40B4-BE49-F238E27FC236}">
                <a16:creationId xmlns:a16="http://schemas.microsoft.com/office/drawing/2014/main" id="{A2B3D164-668E-4CA3-9A19-70AA5015EA42}"/>
              </a:ext>
            </a:extLst>
          </p:cNvPr>
          <p:cNvGrpSpPr/>
          <p:nvPr/>
        </p:nvGrpSpPr>
        <p:grpSpPr bwMode="blackWhite">
          <a:xfrm>
            <a:off x="557319" y="5134219"/>
            <a:ext cx="558179" cy="409838"/>
            <a:chOff x="6953426" y="711274"/>
            <a:chExt cx="558179" cy="409838"/>
          </a:xfrm>
        </p:grpSpPr>
        <p:sp>
          <p:nvSpPr>
            <p:cNvPr id="15" name="Oval 14" descr="Círculo pequeno">
              <a:extLst>
                <a:ext uri="{FF2B5EF4-FFF2-40B4-BE49-F238E27FC236}">
                  <a16:creationId xmlns:a16="http://schemas.microsoft.com/office/drawing/2014/main" id="{BBF316DB-A0C3-44C1-8567-3C30D24249D8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PT"/>
            </a:p>
          </p:txBody>
        </p:sp>
        <p:sp>
          <p:nvSpPr>
            <p:cNvPr id="16" name="Caixa de texto 15" descr="Número 3">
              <a:extLst>
                <a:ext uri="{FF2B5EF4-FFF2-40B4-BE49-F238E27FC236}">
                  <a16:creationId xmlns:a16="http://schemas.microsoft.com/office/drawing/2014/main" id="{962E952B-88D1-4EDF-BD53-FD05162A7359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pt-P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17" name="Marcador de Posição de Conteúdo 17" descr="Regresse ao primeiro dos dois diapositivos e prima o botão Apresentação de Diapositivos e, em seguida, selecione Reproduzir para ver a modificação do seu papagaio!">
            <a:extLst>
              <a:ext uri="{FF2B5EF4-FFF2-40B4-BE49-F238E27FC236}">
                <a16:creationId xmlns:a16="http://schemas.microsoft.com/office/drawing/2014/main" id="{BA96EB65-127B-4729-AF55-3A29384772DD}"/>
              </a:ext>
            </a:extLst>
          </p:cNvPr>
          <p:cNvSpPr txBox="1">
            <a:spLocks/>
          </p:cNvSpPr>
          <p:nvPr/>
        </p:nvSpPr>
        <p:spPr>
          <a:xfrm>
            <a:off x="1091929" y="5150508"/>
            <a:ext cx="2823368" cy="1488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Regresse ao primeiro dos dois diapositivos e prima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</a:rPr>
              <a:t> o botão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Apresentação de Diapositivos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e, em seguida, selecione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Reproduzir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ver a modificação do seu papagaio!</a:t>
            </a:r>
          </a:p>
        </p:txBody>
      </p:sp>
      <p:pic>
        <p:nvPicPr>
          <p:cNvPr id="18" name="Imagem 17" descr="Botão Apresentação de Diapositivos">
            <a:extLst>
              <a:ext uri="{FF2B5EF4-FFF2-40B4-BE49-F238E27FC236}">
                <a16:creationId xmlns:a16="http://schemas.microsoft.com/office/drawing/2014/main" id="{B0340C9A-12F9-4BED-859B-790F5A9D52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38598" y="5338362"/>
            <a:ext cx="2419340" cy="100554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Modelo 3D de um papagaio">
                <a:extLst>
                  <a:ext uri="{FF2B5EF4-FFF2-40B4-BE49-F238E27FC236}">
                    <a16:creationId xmlns:a16="http://schemas.microsoft.com/office/drawing/2014/main" id="{FF4C3D36-ED20-4C8A-85D2-83190D332A9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8539497"/>
                  </p:ext>
                </p:extLst>
              </p:nvPr>
            </p:nvGraphicFramePr>
            <p:xfrm>
              <a:off x="8303318" y="1575304"/>
              <a:ext cx="1552272" cy="4866325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1552272" cy="4866325"/>
                    </a:xfrm>
                    <a:prstGeom prst="rect">
                      <a:avLst/>
                    </a:prstGeom>
                  </am3d:spPr>
                  <am3d:camera>
                    <am3d:pos x="0" y="0" z="525630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89550" d="1000000"/>
                    <am3d:preTrans dx="2779495" dy="-17991192" dz="-845298"/>
                    <am3d:scale>
                      <am3d:sx n="1000000" d="1000000"/>
                      <am3d:sy n="1000000" d="1000000"/>
                      <am3d:sz n="1000000" d="1000000"/>
                    </am3d:scale>
                    <am3d:rot ax="214005" ay="217895" az="13569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54186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Modelo 3D de um papagaio">
                <a:extLst>
                  <a:ext uri="{FF2B5EF4-FFF2-40B4-BE49-F238E27FC236}">
                    <a16:creationId xmlns:a16="http://schemas.microsoft.com/office/drawing/2014/main" id="{FF4C3D36-ED20-4C8A-85D2-83190D332A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03318" y="1575304"/>
                <a:ext cx="1552272" cy="48663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9102131"/>
      </p:ext>
    </p:extLst>
  </p:cSld>
  <p:clrMapOvr>
    <a:masterClrMapping/>
  </p:clrMapOvr>
  <p:transition spd="slow" advTm="3000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4322E42-AFFD-4B81-BD7A-77AB9FC3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/>
              <a:t>Anime o seu modelo 3D com o Separador Animações</a:t>
            </a:r>
          </a:p>
        </p:txBody>
      </p:sp>
      <p:sp>
        <p:nvSpPr>
          <p:cNvPr id="4" name="Texto da caixa Experimente" descr="Experimente com o papagaio à direita:">
            <a:extLst>
              <a:ext uri="{FF2B5EF4-FFF2-40B4-BE49-F238E27FC236}">
                <a16:creationId xmlns:a16="http://schemas.microsoft.com/office/drawing/2014/main" id="{0D42AC0C-5EE6-42C4-91EE-07F7C9599947}"/>
              </a:ext>
            </a:extLst>
          </p:cNvPr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Experimente com o papagaio à direita:</a:t>
            </a:r>
          </a:p>
        </p:txBody>
      </p:sp>
      <p:sp>
        <p:nvSpPr>
          <p:cNvPr id="5" name="Passo 1" descr="Passo 1:">
            <a:extLst>
              <a:ext uri="{FF2B5EF4-FFF2-40B4-BE49-F238E27FC236}">
                <a16:creationId xmlns:a16="http://schemas.microsoft.com/office/drawing/2014/main" id="{D4693D8A-3AAB-45B5-8381-3001C700C32F}"/>
              </a:ext>
            </a:extLst>
          </p:cNvPr>
          <p:cNvSpPr/>
          <p:nvPr/>
        </p:nvSpPr>
        <p:spPr bwMode="blackWhite">
          <a:xfrm>
            <a:off x="630366" y="1917997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PT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6" name="Passo de Marcador de Posição de Conteúdo 1" descr="Selecione o Modelo 3D à direita e, em seguida, aceda a Animações &gt; Girar&#10;Sugestão: as Opções de Efeito fornecem-lhe mais opções para a opção Girar.&#10;">
            <a:extLst>
              <a:ext uri="{FF2B5EF4-FFF2-40B4-BE49-F238E27FC236}">
                <a16:creationId xmlns:a16="http://schemas.microsoft.com/office/drawing/2014/main" id="{8110C53D-9866-4A6B-9E28-68BBE6EFF866}"/>
              </a:ext>
            </a:extLst>
          </p:cNvPr>
          <p:cNvSpPr txBox="1">
            <a:spLocks/>
          </p:cNvSpPr>
          <p:nvPr/>
        </p:nvSpPr>
        <p:spPr>
          <a:xfrm>
            <a:off x="1066037" y="1958188"/>
            <a:ext cx="5340316" cy="10390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Selecione o Modelo 3D à direita e, em seguida, aceda a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Animações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&gt;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Girar</a:t>
            </a:r>
          </a:p>
          <a:p>
            <a:pPr marL="0" indent="0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Sugestão: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</a:rPr>
              <a:t>as </a:t>
            </a:r>
            <a:r>
              <a:rPr lang="pt-PT">
                <a:solidFill>
                  <a:srgbClr val="40404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Opções de Efeito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permitem-lhe fazer ainda mais do que a opção 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Girar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</p:txBody>
      </p:sp>
      <p:grpSp>
        <p:nvGrpSpPr>
          <p:cNvPr id="12" name="Lâmpada">
            <a:extLst>
              <a:ext uri="{FF2B5EF4-FFF2-40B4-BE49-F238E27FC236}">
                <a16:creationId xmlns:a16="http://schemas.microsoft.com/office/drawing/2014/main" id="{6F0125D2-0FCC-492A-868C-E09B180AD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15429" y="2514325"/>
            <a:ext cx="187380" cy="278885"/>
            <a:chOff x="5052041" y="3023897"/>
            <a:chExt cx="1009650" cy="1502702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A42791D9-0616-438D-9CCF-CF1107EBC2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52041" y="3023897"/>
              <a:ext cx="1009650" cy="1295400"/>
            </a:xfrm>
            <a:custGeom>
              <a:avLst/>
              <a:gdLst>
                <a:gd name="connsiteX0" fmla="*/ 684848 w 1009650"/>
                <a:gd name="connsiteY0" fmla="*/ 1231583 h 1295400"/>
                <a:gd name="connsiteX1" fmla="*/ 329565 w 1009650"/>
                <a:gd name="connsiteY1" fmla="*/ 1231583 h 1295400"/>
                <a:gd name="connsiteX2" fmla="*/ 328613 w 1009650"/>
                <a:gd name="connsiteY2" fmla="*/ 1056323 h 1295400"/>
                <a:gd name="connsiteX3" fmla="*/ 71438 w 1009650"/>
                <a:gd name="connsiteY3" fmla="*/ 504825 h 1295400"/>
                <a:gd name="connsiteX4" fmla="*/ 504825 w 1009650"/>
                <a:gd name="connsiteY4" fmla="*/ 71438 h 1295400"/>
                <a:gd name="connsiteX5" fmla="*/ 508635 w 1009650"/>
                <a:gd name="connsiteY5" fmla="*/ 71438 h 1295400"/>
                <a:gd name="connsiteX6" fmla="*/ 942023 w 1009650"/>
                <a:gd name="connsiteY6" fmla="*/ 504825 h 1295400"/>
                <a:gd name="connsiteX7" fmla="*/ 684848 w 1009650"/>
                <a:gd name="connsiteY7" fmla="*/ 1055370 h 1295400"/>
                <a:gd name="connsiteX8" fmla="*/ 684848 w 1009650"/>
                <a:gd name="connsiteY8" fmla="*/ 1231583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9650" h="1295400">
                  <a:moveTo>
                    <a:pt x="684848" y="1231583"/>
                  </a:moveTo>
                  <a:lnTo>
                    <a:pt x="329565" y="1231583"/>
                  </a:lnTo>
                  <a:lnTo>
                    <a:pt x="328613" y="1056323"/>
                  </a:lnTo>
                  <a:cubicBezTo>
                    <a:pt x="328613" y="816293"/>
                    <a:pt x="71438" y="744855"/>
                    <a:pt x="71438" y="504825"/>
                  </a:cubicBezTo>
                  <a:cubicBezTo>
                    <a:pt x="71438" y="264795"/>
                    <a:pt x="265748" y="71438"/>
                    <a:pt x="504825" y="71438"/>
                  </a:cubicBezTo>
                  <a:lnTo>
                    <a:pt x="508635" y="71438"/>
                  </a:lnTo>
                  <a:cubicBezTo>
                    <a:pt x="748665" y="71438"/>
                    <a:pt x="942023" y="265748"/>
                    <a:pt x="942023" y="504825"/>
                  </a:cubicBezTo>
                  <a:cubicBezTo>
                    <a:pt x="942023" y="743903"/>
                    <a:pt x="684848" y="816293"/>
                    <a:pt x="684848" y="1055370"/>
                  </a:cubicBezTo>
                  <a:lnTo>
                    <a:pt x="684848" y="1231583"/>
                  </a:lnTo>
                  <a:close/>
                </a:path>
              </a:pathLst>
            </a:custGeom>
            <a:noFill/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PT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067E028D-B83C-4DAB-9050-329EDFDCB1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66365" y="4383724"/>
              <a:ext cx="381000" cy="142875"/>
            </a:xfrm>
            <a:custGeom>
              <a:avLst/>
              <a:gdLst>
                <a:gd name="connsiteX0" fmla="*/ 71438 w 381000"/>
                <a:gd name="connsiteY0" fmla="*/ 71437 h 142875"/>
                <a:gd name="connsiteX1" fmla="*/ 313373 w 381000"/>
                <a:gd name="connsiteY1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00" h="142875">
                  <a:moveTo>
                    <a:pt x="71438" y="71437"/>
                  </a:moveTo>
                  <a:lnTo>
                    <a:pt x="313373" y="71437"/>
                  </a:lnTo>
                </a:path>
              </a:pathLst>
            </a:custGeom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PT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600F250A-168C-4535-995F-4F0478282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10168" y="3958952"/>
              <a:ext cx="495301" cy="142874"/>
            </a:xfrm>
            <a:custGeom>
              <a:avLst/>
              <a:gdLst>
                <a:gd name="connsiteX0" fmla="*/ 71437 w 495300"/>
                <a:gd name="connsiteY0" fmla="*/ 71438 h 142875"/>
                <a:gd name="connsiteX1" fmla="*/ 426720 w 495300"/>
                <a:gd name="connsiteY1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300" h="142875">
                  <a:moveTo>
                    <a:pt x="71437" y="71438"/>
                  </a:moveTo>
                  <a:lnTo>
                    <a:pt x="426720" y="71438"/>
                  </a:lnTo>
                </a:path>
              </a:pathLst>
            </a:custGeom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pt-PT"/>
            </a:p>
          </p:txBody>
        </p:sp>
      </p:grpSp>
      <p:pic>
        <p:nvPicPr>
          <p:cNvPr id="9" name="Imagem 8" descr="Captura de ecrã do menu de opções">
            <a:extLst>
              <a:ext uri="{FF2B5EF4-FFF2-40B4-BE49-F238E27FC236}">
                <a16:creationId xmlns:a16="http://schemas.microsoft.com/office/drawing/2014/main" id="{01C4D089-8091-4C8E-885D-5A87D0590D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366" y="3177034"/>
            <a:ext cx="6697900" cy="1153092"/>
          </a:xfrm>
          <a:prstGeom prst="rect">
            <a:avLst/>
          </a:prstGeom>
        </p:spPr>
      </p:pic>
      <p:sp>
        <p:nvSpPr>
          <p:cNvPr id="7" name="Passo 2" descr="Passo 2:">
            <a:extLst>
              <a:ext uri="{FF2B5EF4-FFF2-40B4-BE49-F238E27FC236}">
                <a16:creationId xmlns:a16="http://schemas.microsoft.com/office/drawing/2014/main" id="{D7689DB6-3948-40C3-8F69-1ED48F5AE1BB}"/>
              </a:ext>
            </a:extLst>
          </p:cNvPr>
          <p:cNvSpPr/>
          <p:nvPr/>
        </p:nvSpPr>
        <p:spPr bwMode="blackWhite">
          <a:xfrm>
            <a:off x="630366" y="4599272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PT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8" name="Passo de Marcador de Posição de Conteúdo 2" descr="Explore as outras novas animações criadas especificamente para os modelos 3D: Apresentar, Balançar, Saltar e Virar e Sair.">
            <a:extLst>
              <a:ext uri="{FF2B5EF4-FFF2-40B4-BE49-F238E27FC236}">
                <a16:creationId xmlns:a16="http://schemas.microsoft.com/office/drawing/2014/main" id="{F8DE0424-CE18-47F6-BBF5-736B335BC89A}"/>
              </a:ext>
            </a:extLst>
          </p:cNvPr>
          <p:cNvSpPr txBox="1">
            <a:spLocks/>
          </p:cNvSpPr>
          <p:nvPr/>
        </p:nvSpPr>
        <p:spPr>
          <a:xfrm>
            <a:off x="1066037" y="4548024"/>
            <a:ext cx="5426203" cy="723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Explore as outras novas animações criadas especificamente para os modelos 3D: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Apresentar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Balançar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Saltar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 Virar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Sair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10" name="Passo 3" descr="Passo 3">
            <a:extLst>
              <a:ext uri="{FF2B5EF4-FFF2-40B4-BE49-F238E27FC236}">
                <a16:creationId xmlns:a16="http://schemas.microsoft.com/office/drawing/2014/main" id="{9D4BEFE4-E36D-4025-A26C-11D7E10A9478}"/>
              </a:ext>
            </a:extLst>
          </p:cNvPr>
          <p:cNvSpPr/>
          <p:nvPr/>
        </p:nvSpPr>
        <p:spPr bwMode="blackWhite">
          <a:xfrm>
            <a:off x="630366" y="5381614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PT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11" name="Passo de Marcador de Posição de Conteúdo 3" descr="Clique em Adicionar Animação para combinar as novas animações 3D com outras animações clássicas 2D, como Desvanecer, Aumentar/Encolher ou uma das muitas animações de Trajetória de Movimento, para testar e ver o que pode fazer.">
            <a:extLst>
              <a:ext uri="{FF2B5EF4-FFF2-40B4-BE49-F238E27FC236}">
                <a16:creationId xmlns:a16="http://schemas.microsoft.com/office/drawing/2014/main" id="{8BCD932C-F4F1-4949-983C-017934B3CCBC}"/>
              </a:ext>
            </a:extLst>
          </p:cNvPr>
          <p:cNvSpPr txBox="1">
            <a:spLocks/>
          </p:cNvSpPr>
          <p:nvPr/>
        </p:nvSpPr>
        <p:spPr>
          <a:xfrm>
            <a:off x="1066037" y="5366942"/>
            <a:ext cx="5883403" cy="108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Clique em Adicionar Animação para combinar as novas animações 3D com outras animações clássicas 2D, como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Desvanecer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Aumentar/Encolher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ou uma das muitas animações de </a:t>
            </a:r>
            <a:r>
              <a:rPr lang="pt-P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Trajetória de Movimento</a:t>
            </a:r>
            <a:r>
              <a:rPr lang="pt-P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para testar e ver o que pode fazer.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4" name="Modelo 3D 23" descr="Modelo 3D de um papagaio">
                <a:extLst>
                  <a:ext uri="{FF2B5EF4-FFF2-40B4-BE49-F238E27FC236}">
                    <a16:creationId xmlns:a16="http://schemas.microsoft.com/office/drawing/2014/main" id="{CCCE7507-16DA-4EE0-A55C-07EE55110FC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01715206"/>
                  </p:ext>
                </p:extLst>
              </p:nvPr>
            </p:nvGraphicFramePr>
            <p:xfrm>
              <a:off x="8134006" y="1431342"/>
              <a:ext cx="1552272" cy="4866325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552272" cy="4866325"/>
                    </a:xfrm>
                    <a:prstGeom prst="rect">
                      <a:avLst/>
                    </a:prstGeom>
                  </am3d:spPr>
                  <am3d:camera>
                    <am3d:pos x="0" y="0" z="525630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89550" d="1000000"/>
                    <am3d:preTrans dx="2779495" dy="-17991192" dz="-845298"/>
                    <am3d:scale>
                      <am3d:sx n="1000000" d="1000000"/>
                      <am3d:sy n="1000000" d="1000000"/>
                      <am3d:sz n="1000000" d="1000000"/>
                    </am3d:scale>
                    <am3d:rot ax="214005" ay="217895" az="13569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4186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4" name="Modelo 3D 23" descr="Modelo 3D de um papagaio">
                <a:extLst>
                  <a:ext uri="{FF2B5EF4-FFF2-40B4-BE49-F238E27FC236}">
                    <a16:creationId xmlns:a16="http://schemas.microsoft.com/office/drawing/2014/main" id="{CCCE7507-16DA-4EE0-A55C-07EE55110F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34006" y="1431342"/>
                <a:ext cx="1552272" cy="48663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4314166"/>
      </p:ext>
    </p:extLst>
  </p:cSld>
  <p:clrMapOvr>
    <a:masterClrMapping/>
  </p:clrMapOvr>
  <p:transition spd="slow" advTm="3000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521207" y="1536192"/>
            <a:ext cx="9811507" cy="640080"/>
          </a:xfrm>
        </p:spPr>
        <p:txBody>
          <a:bodyPr rtlCol="0">
            <a:normAutofit/>
          </a:bodyPr>
          <a:lstStyle/>
          <a:p>
            <a:pPr rtl="0"/>
            <a:r>
              <a:rPr lang="pt-PT">
                <a:latin typeface="Segoe UI Light" panose="020B0502040204020203" pitchFamily="34" charset="0"/>
                <a:cs typeface="Segoe UI Light" panose="020B0502040204020203" pitchFamily="34" charset="0"/>
              </a:rPr>
              <a:t>Tem mais perguntas sobre o PowerPoint?</a:t>
            </a:r>
          </a:p>
        </p:txBody>
      </p:sp>
      <p:sp>
        <p:nvSpPr>
          <p:cNvPr id="5" name="Texto da caixa Diga-me" descr="Selecione o botão Diga-me e escreva o que pretende saber.&#10;"/>
          <p:cNvSpPr>
            <a:spLocks noGrp="1"/>
          </p:cNvSpPr>
          <p:nvPr>
            <p:ph sz="half" idx="4294967295"/>
          </p:nvPr>
        </p:nvSpPr>
        <p:spPr>
          <a:xfrm>
            <a:off x="521208" y="2679617"/>
            <a:ext cx="8015508" cy="544904"/>
          </a:xfrm>
        </p:spPr>
        <p:txBody>
          <a:bodyPr rtlCol="0">
            <a:noAutofit/>
          </a:bodyPr>
          <a:lstStyle/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r>
              <a:rPr lang="pt-PT" sz="2000">
                <a:latin typeface="Segoe UI Light" panose="020B0502040204020203" pitchFamily="34" charset="0"/>
                <a:cs typeface="Segoe UI Light" panose="020B0502040204020203" pitchFamily="34" charset="0"/>
              </a:rPr>
              <a:t>Selecione o botão </a:t>
            </a:r>
            <a:r>
              <a:rPr lang="pt-PT" sz="20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Diga-me                   </a:t>
            </a:r>
            <a:r>
              <a:rPr lang="pt-PT" sz="2000">
                <a:latin typeface="Segoe UI Light" panose="020B0502040204020203" pitchFamily="34" charset="0"/>
                <a:cs typeface="Segoe UI Light" panose="020B0502040204020203" pitchFamily="34" charset="0"/>
              </a:rPr>
              <a:t> e escreva o que pretende saber.</a:t>
            </a:r>
          </a:p>
        </p:txBody>
      </p:sp>
      <p:pic>
        <p:nvPicPr>
          <p:cNvPr id="2" name="Grande Plano do Botão Diga-me" descr="Botão Diga-m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5865" y="2350333"/>
            <a:ext cx="1268511" cy="1189747"/>
          </a:xfrm>
          <a:prstGeom prst="rect">
            <a:avLst/>
          </a:prstGeom>
        </p:spPr>
      </p:pic>
      <p:grpSp>
        <p:nvGrpSpPr>
          <p:cNvPr id="24" name="Imagem da caixa Diga-me">
            <a:extLst>
              <a:ext uri="{FF2B5EF4-FFF2-40B4-BE49-F238E27FC236}">
                <a16:creationId xmlns:a16="http://schemas.microsoft.com/office/drawing/2014/main" id="{E294B580-9A21-406E-956B-7B3A0F93C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536716" y="1147801"/>
            <a:ext cx="3134076" cy="2314533"/>
            <a:chOff x="8536716" y="1884807"/>
            <a:chExt cx="3134076" cy="2314533"/>
          </a:xfrm>
        </p:grpSpPr>
        <p:pic>
          <p:nvPicPr>
            <p:cNvPr id="11" name="Imagem 10" descr="Botão Diga-me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536716" y="2688047"/>
              <a:ext cx="3134076" cy="1511293"/>
            </a:xfrm>
            <a:prstGeom prst="rect">
              <a:avLst/>
            </a:prstGeom>
          </p:spPr>
        </p:pic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ECE6C5E3-70C8-45F8-ACDC-FDA61C407AC6}"/>
                </a:ext>
              </a:extLst>
            </p:cNvPr>
            <p:cNvGrpSpPr/>
            <p:nvPr/>
          </p:nvGrpSpPr>
          <p:grpSpPr>
            <a:xfrm>
              <a:off x="8536716" y="1884807"/>
              <a:ext cx="3134076" cy="452977"/>
              <a:chOff x="9040988" y="1083215"/>
              <a:chExt cx="3134076" cy="452977"/>
            </a:xfrm>
          </p:grpSpPr>
          <p:sp>
            <p:nvSpPr>
              <p:cNvPr id="3" name="Retângulo 2" hidden="1">
                <a:extLst>
                  <a:ext uri="{FF2B5EF4-FFF2-40B4-BE49-F238E27FC236}">
                    <a16:creationId xmlns:a16="http://schemas.microsoft.com/office/drawing/2014/main" id="{83507D88-B17C-4005-9465-C089E6BDCE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040988" y="1083215"/>
                <a:ext cx="3134076" cy="452977"/>
              </a:xfrm>
              <a:prstGeom prst="rect">
                <a:avLst/>
              </a:prstGeom>
              <a:solidFill>
                <a:srgbClr val="9239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PT"/>
              </a:p>
            </p:txBody>
          </p:sp>
          <p:cxnSp>
            <p:nvCxnSpPr>
              <p:cNvPr id="6" name="Conexão Reta 5" hidden="1">
                <a:extLst>
                  <a:ext uri="{FF2B5EF4-FFF2-40B4-BE49-F238E27FC236}">
                    <a16:creationId xmlns:a16="http://schemas.microsoft.com/office/drawing/2014/main" id="{1CC0DDBC-5D45-45EC-B3A7-4A87D5AC06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/>
            </p:nvCxnSpPr>
            <p:spPr>
              <a:xfrm>
                <a:off x="9375775" y="1198578"/>
                <a:ext cx="0" cy="222250"/>
              </a:xfrm>
              <a:prstGeom prst="line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upo 18">
                <a:extLst>
                  <a:ext uri="{FF2B5EF4-FFF2-40B4-BE49-F238E27FC236}">
                    <a16:creationId xmlns:a16="http://schemas.microsoft.com/office/drawing/2014/main" id="{AD23CF99-30DD-4C42-A3D5-D9C7DF60A66E}"/>
                  </a:ext>
                </a:extLst>
              </p:cNvPr>
              <p:cNvGrpSpPr/>
              <p:nvPr/>
            </p:nvGrpSpPr>
            <p:grpSpPr>
              <a:xfrm>
                <a:off x="9129954" y="1192976"/>
                <a:ext cx="156856" cy="233455"/>
                <a:chOff x="7873416" y="1716789"/>
                <a:chExt cx="187380" cy="278885"/>
              </a:xfrm>
            </p:grpSpPr>
            <p:sp>
              <p:nvSpPr>
                <p:cNvPr id="20" name="Forma Livre: Forma 19" hidden="1">
                  <a:extLst>
                    <a:ext uri="{FF2B5EF4-FFF2-40B4-BE49-F238E27FC236}">
                      <a16:creationId xmlns:a16="http://schemas.microsoft.com/office/drawing/2014/main" id="{52B12E68-8015-487A-87C4-BF63E90566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7873416" y="1716789"/>
                  <a:ext cx="187380" cy="240412"/>
                </a:xfrm>
                <a:custGeom>
                  <a:avLst/>
                  <a:gdLst>
                    <a:gd name="connsiteX0" fmla="*/ 684848 w 1009650"/>
                    <a:gd name="connsiteY0" fmla="*/ 1231583 h 1295400"/>
                    <a:gd name="connsiteX1" fmla="*/ 329565 w 1009650"/>
                    <a:gd name="connsiteY1" fmla="*/ 1231583 h 1295400"/>
                    <a:gd name="connsiteX2" fmla="*/ 328613 w 1009650"/>
                    <a:gd name="connsiteY2" fmla="*/ 1056323 h 1295400"/>
                    <a:gd name="connsiteX3" fmla="*/ 71438 w 1009650"/>
                    <a:gd name="connsiteY3" fmla="*/ 504825 h 1295400"/>
                    <a:gd name="connsiteX4" fmla="*/ 504825 w 1009650"/>
                    <a:gd name="connsiteY4" fmla="*/ 71438 h 1295400"/>
                    <a:gd name="connsiteX5" fmla="*/ 508635 w 1009650"/>
                    <a:gd name="connsiteY5" fmla="*/ 71438 h 1295400"/>
                    <a:gd name="connsiteX6" fmla="*/ 942023 w 1009650"/>
                    <a:gd name="connsiteY6" fmla="*/ 504825 h 1295400"/>
                    <a:gd name="connsiteX7" fmla="*/ 684848 w 1009650"/>
                    <a:gd name="connsiteY7" fmla="*/ 1055370 h 1295400"/>
                    <a:gd name="connsiteX8" fmla="*/ 684848 w 1009650"/>
                    <a:gd name="connsiteY8" fmla="*/ 1231583 h 129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09650" h="1295400">
                      <a:moveTo>
                        <a:pt x="684848" y="1231583"/>
                      </a:moveTo>
                      <a:lnTo>
                        <a:pt x="329565" y="1231583"/>
                      </a:lnTo>
                      <a:lnTo>
                        <a:pt x="328613" y="1056323"/>
                      </a:lnTo>
                      <a:cubicBezTo>
                        <a:pt x="328613" y="816293"/>
                        <a:pt x="71438" y="744855"/>
                        <a:pt x="71438" y="504825"/>
                      </a:cubicBezTo>
                      <a:cubicBezTo>
                        <a:pt x="71438" y="264795"/>
                        <a:pt x="265748" y="71438"/>
                        <a:pt x="504825" y="71438"/>
                      </a:cubicBezTo>
                      <a:lnTo>
                        <a:pt x="508635" y="71438"/>
                      </a:lnTo>
                      <a:cubicBezTo>
                        <a:pt x="748665" y="71438"/>
                        <a:pt x="942023" y="265748"/>
                        <a:pt x="942023" y="504825"/>
                      </a:cubicBezTo>
                      <a:cubicBezTo>
                        <a:pt x="942023" y="743903"/>
                        <a:pt x="684848" y="816293"/>
                        <a:pt x="684848" y="1055370"/>
                      </a:cubicBezTo>
                      <a:lnTo>
                        <a:pt x="684848" y="1231583"/>
                      </a:lnTo>
                      <a:close/>
                    </a:path>
                  </a:pathLst>
                </a:custGeom>
                <a:noFill/>
                <a:ln w="19050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pt-PT"/>
                </a:p>
              </p:txBody>
            </p:sp>
            <p:sp>
              <p:nvSpPr>
                <p:cNvPr id="21" name="Forma Livre: Forma 20" hidden="1">
                  <a:extLst>
                    <a:ext uri="{FF2B5EF4-FFF2-40B4-BE49-F238E27FC236}">
                      <a16:creationId xmlns:a16="http://schemas.microsoft.com/office/drawing/2014/main" id="{73F670A2-659E-4A77-9D8E-6948136D4A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7912702" y="1969158"/>
                  <a:ext cx="108000" cy="26516"/>
                </a:xfrm>
                <a:custGeom>
                  <a:avLst/>
                  <a:gdLst>
                    <a:gd name="connsiteX0" fmla="*/ 71438 w 381000"/>
                    <a:gd name="connsiteY0" fmla="*/ 71437 h 142875"/>
                    <a:gd name="connsiteX1" fmla="*/ 313373 w 381000"/>
                    <a:gd name="connsiteY1" fmla="*/ 71437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1000" h="142875">
                      <a:moveTo>
                        <a:pt x="71438" y="71437"/>
                      </a:moveTo>
                      <a:lnTo>
                        <a:pt x="313373" y="71437"/>
                      </a:lnTo>
                    </a:path>
                  </a:pathLst>
                </a:custGeom>
                <a:ln w="19050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pt-PT"/>
                </a:p>
              </p:txBody>
            </p:sp>
            <p:sp>
              <p:nvSpPr>
                <p:cNvPr id="22" name="Forma Livre: Forma 21" hidden="1">
                  <a:extLst>
                    <a:ext uri="{FF2B5EF4-FFF2-40B4-BE49-F238E27FC236}">
                      <a16:creationId xmlns:a16="http://schemas.microsoft.com/office/drawing/2014/main" id="{E4FD6AB2-EB32-402C-BC6B-579C8B08D54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7921322" y="1890325"/>
                  <a:ext cx="91922" cy="26516"/>
                </a:xfrm>
                <a:custGeom>
                  <a:avLst/>
                  <a:gdLst>
                    <a:gd name="connsiteX0" fmla="*/ 71437 w 495300"/>
                    <a:gd name="connsiteY0" fmla="*/ 71438 h 142875"/>
                    <a:gd name="connsiteX1" fmla="*/ 426720 w 495300"/>
                    <a:gd name="connsiteY1" fmla="*/ 71438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95300" h="142875">
                      <a:moveTo>
                        <a:pt x="71437" y="71438"/>
                      </a:moveTo>
                      <a:lnTo>
                        <a:pt x="426720" y="71438"/>
                      </a:lnTo>
                    </a:path>
                  </a:pathLst>
                </a:custGeom>
                <a:ln w="19050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pt-PT"/>
                </a:p>
              </p:txBody>
            </p:sp>
          </p:grpSp>
        </p:grpSp>
      </p:grpSp>
      <p:grpSp>
        <p:nvGrpSpPr>
          <p:cNvPr id="26" name="Ligações" descr="Hiperligações do blogue da equipa do PowerPoint, formação gratuita do PowerPoint e feedback sobre esta introdução.">
            <a:extLst>
              <a:ext uri="{FF2B5EF4-FFF2-40B4-BE49-F238E27FC236}">
                <a16:creationId xmlns:a16="http://schemas.microsoft.com/office/drawing/2014/main" id="{A410C95B-7D22-4AE4-BEE0-35AD5FA96E07}"/>
              </a:ext>
            </a:extLst>
          </p:cNvPr>
          <p:cNvGrpSpPr/>
          <p:nvPr/>
        </p:nvGrpSpPr>
        <p:grpSpPr>
          <a:xfrm>
            <a:off x="521208" y="3629258"/>
            <a:ext cx="5743790" cy="1867001"/>
            <a:chOff x="3832853" y="3420317"/>
            <a:chExt cx="5743790" cy="1867001"/>
          </a:xfrm>
        </p:grpSpPr>
        <p:sp>
          <p:nvSpPr>
            <p:cNvPr id="9" name="Caixa de texto 8" descr="SELECIONE A SETA QUANDO ESTIVER NO MODO DE APRESENTAÇÃO DE DIAPOSITIVOS&#10;"/>
            <p:cNvSpPr txBox="1"/>
            <p:nvPr/>
          </p:nvSpPr>
          <p:spPr>
            <a:xfrm>
              <a:off x="3832853" y="4920686"/>
              <a:ext cx="5743790" cy="267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pt-PT" sz="1100">
                  <a:latin typeface="Segoe UI Light" panose="020B0502040204020203" pitchFamily="34" charset="0"/>
                  <a:cs typeface="Segoe UI Light" panose="020B0502040204020203" pitchFamily="34" charset="0"/>
                </a:rPr>
                <a:t>SELECIONE A SETA QUANDO ESTIVER NO MODO DE APRESENTAÇÃO DE DIAPOSITIVOS</a:t>
              </a:r>
            </a:p>
          </p:txBody>
        </p:sp>
        <p:pic>
          <p:nvPicPr>
            <p:cNvPr id="8" name="Imagem 7" descr="Seta a apontar para a direita com uma hiperligação para o blogue da equipa do PowerPoint. Selecione a imagem para visitar o blogue da equipa do PowerPoint ">
              <a:hlinkClick r:id="rId5" tooltip="Selecione aqui para visitar o blogue da equipa do PowerPoint."/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70259" y="3420317"/>
              <a:ext cx="661940" cy="661940"/>
            </a:xfrm>
            <a:prstGeom prst="rect">
              <a:avLst/>
            </a:prstGeom>
          </p:spPr>
        </p:pic>
        <p:pic>
          <p:nvPicPr>
            <p:cNvPr id="7" name="Imagem 6" descr="Seta a apontar para a direita com uma hiperligação para formação gratuita do PowerPoint. Selecione a imagem para aceder à formação gratuita do PowerPoint">
              <a:hlinkClick r:id="rId7" tooltip="Selecione aqui para aceder à formação gratuita do PowerPoint."/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51104" y="4198633"/>
              <a:ext cx="661940" cy="661940"/>
            </a:xfrm>
            <a:prstGeom prst="rect">
              <a:avLst/>
            </a:prstGeom>
          </p:spPr>
        </p:pic>
        <p:sp>
          <p:nvSpPr>
            <p:cNvPr id="25" name="Marcador de Posição de Conteúdo 4">
              <a:extLst>
                <a:ext uri="{FF2B5EF4-FFF2-40B4-BE49-F238E27FC236}">
                  <a16:creationId xmlns:a16="http://schemas.microsoft.com/office/drawing/2014/main" id="{8E6C017A-BE5B-443C-B929-BF7D929C214F}"/>
                </a:ext>
              </a:extLst>
            </p:cNvPr>
            <p:cNvSpPr txBox="1">
              <a:spLocks/>
            </p:cNvSpPr>
            <p:nvPr/>
          </p:nvSpPr>
          <p:spPr>
            <a:xfrm>
              <a:off x="3832853" y="3420317"/>
              <a:ext cx="5499346" cy="186700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Tx/>
                <a:buNone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02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574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4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718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rtl="0">
                <a:lnSpc>
                  <a:spcPts val="3600"/>
                </a:lnSpc>
                <a:spcBef>
                  <a:spcPts val="2400"/>
                </a:spcBef>
                <a:spcAft>
                  <a:spcPts val="0"/>
                </a:spcAft>
              </a:pPr>
              <a:r>
                <a:rPr lang="pt-PT" sz="2000" u="sng">
                  <a:latin typeface="Segoe UI Light" panose="020B0502040204020203" pitchFamily="34" charset="0"/>
                  <a:cs typeface="Segoe UI Light" panose="020B0502040204020203" pitchFamily="34" charset="0"/>
                  <a:hlinkClick r:id="rId5" tooltip="Aceda ao blogue da equipa do PowerPoint"/>
                </a:rPr>
                <a:t>Aceda ao blogue da equipa do PowerPoint</a:t>
              </a:r>
              <a:endParaRPr lang="pt-PT" sz="20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rtl="0">
                <a:lnSpc>
                  <a:spcPts val="3600"/>
                </a:lnSpc>
                <a:spcBef>
                  <a:spcPts val="2400"/>
                </a:spcBef>
                <a:spcAft>
                  <a:spcPts val="0"/>
                </a:spcAft>
              </a:pPr>
              <a:r>
                <a:rPr lang="pt-PT" sz="2000">
                  <a:latin typeface="Segoe UI Light" panose="020B0502040204020203" pitchFamily="34" charset="0"/>
                  <a:cs typeface="Segoe UI Light" panose="020B0502040204020203" pitchFamily="34" charset="0"/>
                  <a:hlinkClick r:id="rId7" tooltip="Aceda à formação gratuita do PowerPoint"/>
                </a:rPr>
                <a:t>Aceda à formação gratuita do PowerPoint</a:t>
              </a:r>
              <a:endParaRPr lang="pt-PT" sz="20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3000">
        <p15:prstTrans prst="drape"/>
      </p:transition>
    </mc:Choice>
    <mc:Fallback>
      <p:transition spd="slow" advTm="3000">
        <p:fade/>
      </p:transition>
    </mc:Fallback>
  </mc:AlternateContent>
</p:sld>
</file>

<file path=ppt/theme/theme1.xml><?xml version="1.0" encoding="utf-8"?>
<a:theme xmlns:a="http://schemas.openxmlformats.org/drawingml/2006/main" name="Introdução aos Modelos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61051150_TF16411177_Win32" id="{03D519ED-5E12-45A4-8DB9-3F23D19FF571}" vid="{BFA5AAA5-8CFD-43A4-98FA-78370FDA45F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Dê vida às suas apresentações com 3D</Template>
  <TotalTime>2</TotalTime>
  <Words>942</Words>
  <Application>Microsoft Office PowerPoint</Application>
  <PresentationFormat>Ecrã Panorâmico</PresentationFormat>
  <Paragraphs>81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Segoe UI Semibold</vt:lpstr>
      <vt:lpstr>Introdução aos Modelos 3D</vt:lpstr>
      <vt:lpstr>Dê Vida às Suas Apresentações com Modelos 3D</vt:lpstr>
      <vt:lpstr>Porquê utilizar modelos 3D?</vt:lpstr>
      <vt:lpstr>Não tem um modelo 3D? Não Há Problema!</vt:lpstr>
      <vt:lpstr>Como Inserir um Modelo 3D</vt:lpstr>
      <vt:lpstr>Tem o Seu Próprio Modelo 3D? Pode Importá-lo!</vt:lpstr>
      <vt:lpstr>Duas Formas de Posicionar e Rodar o Seu Modelo 3D</vt:lpstr>
      <vt:lpstr>Posicionamento e Zoom</vt:lpstr>
      <vt:lpstr>Agora, Anime o Seu Modelo 3D Através da Transição Modificação</vt:lpstr>
      <vt:lpstr>Anime o seu modelo 3D com o Separador Animações</vt:lpstr>
      <vt:lpstr>Tem mais perguntas sobre o PowerPoint?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Amélia Cerejo Lopes</dc:creator>
  <cp:lastModifiedBy>Amélia Cerejo Lopes</cp:lastModifiedBy>
  <cp:revision>1</cp:revision>
  <dcterms:created xsi:type="dcterms:W3CDTF">2025-08-01T11:34:30Z</dcterms:created>
  <dcterms:modified xsi:type="dcterms:W3CDTF">2025-08-03T11:10:50Z</dcterms:modified>
</cp:coreProperties>
</file>